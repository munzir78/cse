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87" r:id="rId3"/>
    <p:sldId id="257" r:id="rId4"/>
    <p:sldId id="258" r:id="rId5"/>
    <p:sldId id="259" r:id="rId6"/>
    <p:sldId id="260" r:id="rId7"/>
    <p:sldId id="276" r:id="rId8"/>
    <p:sldId id="261" r:id="rId9"/>
    <p:sldId id="277" r:id="rId10"/>
    <p:sldId id="269" r:id="rId11"/>
    <p:sldId id="270" r:id="rId12"/>
    <p:sldId id="278" r:id="rId13"/>
    <p:sldId id="272" r:id="rId14"/>
    <p:sldId id="279" r:id="rId15"/>
    <p:sldId id="280" r:id="rId16"/>
    <p:sldId id="281" r:id="rId17"/>
    <p:sldId id="282" r:id="rId18"/>
    <p:sldId id="283" r:id="rId19"/>
    <p:sldId id="284" r:id="rId20"/>
    <p:sldId id="285" r:id="rId21"/>
    <p:sldId id="286" r:id="rId22"/>
    <p:sldId id="273" r:id="rId23"/>
    <p:sldId id="274" r:id="rId24"/>
    <p:sldId id="288" r:id="rId25"/>
    <p:sldId id="275" r:id="rId2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p:cViewPr varScale="1">
        <p:scale>
          <a:sx n="84" d="100"/>
          <a:sy n="84" d="100"/>
        </p:scale>
        <p:origin x="65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9BA67D1-67FA-47E1-A0F8-53960C868AA9}" type="datetimeFigureOut">
              <a:rPr lang="en-US" smtClean="0"/>
              <a:t>10/31/2025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13C16F0-C59E-40AB-BE4C-6A8DFCC574F2}" type="slidenum">
              <a:rPr lang="en-US" smtClean="0"/>
              <a:t>‹#›</a:t>
            </a:fld>
            <a:endParaRPr lang="en-US"/>
          </a:p>
        </p:txBody>
      </p:sp>
    </p:spTree>
    <p:extLst>
      <p:ext uri="{BB962C8B-B14F-4D97-AF65-F5344CB8AC3E}">
        <p14:creationId xmlns:p14="http://schemas.microsoft.com/office/powerpoint/2010/main" val="1634258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C16F0-C59E-40AB-BE4C-6A8DFCC574F2}" type="slidenum">
              <a:rPr lang="en-US" smtClean="0"/>
              <a:t>4</a:t>
            </a:fld>
            <a:endParaRPr lang="en-US"/>
          </a:p>
        </p:txBody>
      </p:sp>
    </p:spTree>
    <p:extLst>
      <p:ext uri="{BB962C8B-B14F-4D97-AF65-F5344CB8AC3E}">
        <p14:creationId xmlns:p14="http://schemas.microsoft.com/office/powerpoint/2010/main" val="3552905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300" b="1" i="1">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1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1">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1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1">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1">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5" name="Holder 5"/>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4" name="Holder 4"/>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8825"/>
            <a:ext cx="12192000" cy="6719174"/>
          </a:xfrm>
          <a:prstGeom prst="rect">
            <a:avLst/>
          </a:prstGeom>
        </p:spPr>
      </p:pic>
      <p:sp>
        <p:nvSpPr>
          <p:cNvPr id="2" name="Holder 2"/>
          <p:cNvSpPr>
            <a:spLocks noGrp="1"/>
          </p:cNvSpPr>
          <p:nvPr>
            <p:ph type="title"/>
          </p:nvPr>
        </p:nvSpPr>
        <p:spPr>
          <a:xfrm>
            <a:off x="650541" y="658005"/>
            <a:ext cx="10304227" cy="904985"/>
          </a:xfrm>
          <a:prstGeom prst="rect">
            <a:avLst/>
          </a:prstGeom>
        </p:spPr>
        <p:txBody>
          <a:bodyPr wrap="square" lIns="0" tIns="0" rIns="0" bIns="0">
            <a:spAutoFit/>
          </a:bodyPr>
          <a:lstStyle>
            <a:lvl1pPr>
              <a:defRPr sz="3300" b="1" i="1">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285204" y="1814753"/>
            <a:ext cx="4885055" cy="3990340"/>
          </a:xfrm>
          <a:prstGeom prst="rect">
            <a:avLst/>
          </a:prstGeom>
        </p:spPr>
        <p:txBody>
          <a:bodyPr wrap="square" lIns="0" tIns="0" rIns="0" bIns="0">
            <a:spAutoFit/>
          </a:bodyPr>
          <a:lstStyle>
            <a:lvl1pPr>
              <a:defRPr sz="21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a:xfrm>
            <a:off x="11139512" y="6481635"/>
            <a:ext cx="179704" cy="139700"/>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12700">
              <a:lnSpc>
                <a:spcPts val="95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munzirhassan.mh@gmail.com"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8235" rIns="0" bIns="0" rtlCol="0">
            <a:spAutoFit/>
          </a:bodyPr>
          <a:lstStyle/>
          <a:p>
            <a:pPr marL="2615565" marR="5080" indent="-968375">
              <a:lnSpc>
                <a:spcPts val="2590"/>
              </a:lnSpc>
              <a:spcBef>
                <a:spcPts val="425"/>
              </a:spcBef>
            </a:pPr>
            <a:r>
              <a:rPr lang="en-US" sz="2400" i="0" dirty="0">
                <a:latin typeface="Times New Roman"/>
                <a:cs typeface="Times New Roman"/>
              </a:rPr>
              <a:t>Smart Dermatology: Enhancing Skin  Type Identification and Product Recommendation using Computer Vision</a:t>
            </a:r>
            <a:endParaRPr sz="2400" dirty="0">
              <a:latin typeface="Times New Roman"/>
              <a:cs typeface="Times New Roman"/>
            </a:endParaRPr>
          </a:p>
        </p:txBody>
      </p:sp>
      <p:sp>
        <p:nvSpPr>
          <p:cNvPr id="3" name="object 3"/>
          <p:cNvSpPr txBox="1"/>
          <p:nvPr/>
        </p:nvSpPr>
        <p:spPr>
          <a:xfrm>
            <a:off x="186848" y="4236762"/>
            <a:ext cx="5375752" cy="2553904"/>
          </a:xfrm>
          <a:prstGeom prst="rect">
            <a:avLst/>
          </a:prstGeom>
        </p:spPr>
        <p:txBody>
          <a:bodyPr vert="horz" wrap="square" lIns="0" tIns="9525" rIns="0" bIns="0" rtlCol="0">
            <a:spAutoFit/>
          </a:bodyPr>
          <a:lstStyle/>
          <a:p>
            <a:pPr marL="12700" marR="5080">
              <a:lnSpc>
                <a:spcPct val="102499"/>
              </a:lnSpc>
              <a:spcBef>
                <a:spcPts val="75"/>
              </a:spcBef>
              <a:tabLst>
                <a:tab pos="1497330" algn="l"/>
              </a:tabLst>
            </a:pPr>
            <a:r>
              <a:rPr sz="2000" dirty="0">
                <a:latin typeface="Times New Roman"/>
                <a:cs typeface="Times New Roman"/>
              </a:rPr>
              <a:t>Prepared</a:t>
            </a:r>
            <a:r>
              <a:rPr sz="2000" spc="75" dirty="0">
                <a:latin typeface="Times New Roman"/>
                <a:cs typeface="Times New Roman"/>
              </a:rPr>
              <a:t> </a:t>
            </a:r>
            <a:r>
              <a:rPr sz="2000" spc="-25" dirty="0">
                <a:latin typeface="Times New Roman"/>
                <a:cs typeface="Times New Roman"/>
              </a:rPr>
              <a:t>By:</a:t>
            </a:r>
            <a:r>
              <a:rPr sz="2000" dirty="0">
                <a:latin typeface="Times New Roman"/>
                <a:cs typeface="Times New Roman"/>
              </a:rPr>
              <a:t>	</a:t>
            </a:r>
            <a:r>
              <a:rPr lang="en-US" sz="2000" dirty="0">
                <a:latin typeface="Times New Roman"/>
                <a:cs typeface="Times New Roman"/>
              </a:rPr>
              <a:t>Munzir hassan</a:t>
            </a:r>
            <a:r>
              <a:rPr sz="2000" dirty="0">
                <a:latin typeface="Times New Roman"/>
                <a:cs typeface="Times New Roman"/>
              </a:rPr>
              <a:t>,</a:t>
            </a:r>
            <a:r>
              <a:rPr sz="2000" spc="-45" dirty="0">
                <a:latin typeface="Times New Roman"/>
                <a:cs typeface="Times New Roman"/>
              </a:rPr>
              <a:t> </a:t>
            </a:r>
            <a:r>
              <a:rPr lang="en-US" sz="2000" dirty="0">
                <a:latin typeface="Times New Roman"/>
                <a:cs typeface="Times New Roman"/>
              </a:rPr>
              <a:t>T </a:t>
            </a:r>
            <a:r>
              <a:rPr lang="en-US" sz="2000" dirty="0" err="1">
                <a:latin typeface="Times New Roman"/>
                <a:cs typeface="Times New Roman"/>
              </a:rPr>
              <a:t>Tanusree</a:t>
            </a:r>
            <a:r>
              <a:rPr lang="en-US" sz="2000" dirty="0">
                <a:latin typeface="Times New Roman"/>
                <a:cs typeface="Times New Roman"/>
              </a:rPr>
              <a:t>, Priyanshu </a:t>
            </a:r>
            <a:r>
              <a:rPr lang="en-US" sz="2000" dirty="0" err="1">
                <a:latin typeface="Times New Roman"/>
                <a:cs typeface="Times New Roman"/>
              </a:rPr>
              <a:t>Shingh</a:t>
            </a:r>
            <a:r>
              <a:rPr lang="en-US" sz="2000" dirty="0">
                <a:latin typeface="Times New Roman"/>
                <a:cs typeface="Times New Roman"/>
              </a:rPr>
              <a:t> </a:t>
            </a:r>
          </a:p>
          <a:p>
            <a:pPr marL="12700" marR="5080">
              <a:lnSpc>
                <a:spcPct val="102499"/>
              </a:lnSpc>
              <a:spcBef>
                <a:spcPts val="75"/>
              </a:spcBef>
              <a:tabLst>
                <a:tab pos="1497330" algn="l"/>
              </a:tabLst>
            </a:pPr>
            <a:r>
              <a:rPr sz="2000" dirty="0">
                <a:latin typeface="Times New Roman"/>
                <a:cs typeface="Times New Roman"/>
              </a:rPr>
              <a:t>Reg.</a:t>
            </a:r>
            <a:r>
              <a:rPr sz="2000" spc="20" dirty="0">
                <a:latin typeface="Times New Roman"/>
                <a:cs typeface="Times New Roman"/>
              </a:rPr>
              <a:t> </a:t>
            </a:r>
            <a:r>
              <a:rPr sz="2000" dirty="0">
                <a:latin typeface="Times New Roman"/>
                <a:cs typeface="Times New Roman"/>
              </a:rPr>
              <a:t>No:</a:t>
            </a:r>
            <a:r>
              <a:rPr sz="2000" spc="20" dirty="0">
                <a:latin typeface="Times New Roman"/>
                <a:cs typeface="Times New Roman"/>
              </a:rPr>
              <a:t> </a:t>
            </a:r>
            <a:r>
              <a:rPr sz="2000" dirty="0">
                <a:latin typeface="Times New Roman"/>
                <a:cs typeface="Times New Roman"/>
              </a:rPr>
              <a:t>121</a:t>
            </a:r>
            <a:r>
              <a:rPr lang="en-US" sz="2000" dirty="0">
                <a:latin typeface="Times New Roman"/>
                <a:cs typeface="Times New Roman"/>
              </a:rPr>
              <a:t>06309</a:t>
            </a:r>
            <a:r>
              <a:rPr sz="2000" dirty="0">
                <a:latin typeface="Times New Roman"/>
                <a:cs typeface="Times New Roman"/>
              </a:rPr>
              <a:t>,</a:t>
            </a:r>
            <a:r>
              <a:rPr sz="2000" spc="20" dirty="0">
                <a:latin typeface="Times New Roman"/>
                <a:cs typeface="Times New Roman"/>
              </a:rPr>
              <a:t> </a:t>
            </a:r>
            <a:r>
              <a:rPr sz="2000" spc="-10" dirty="0">
                <a:latin typeface="Times New Roman"/>
                <a:cs typeface="Times New Roman"/>
              </a:rPr>
              <a:t>121</a:t>
            </a:r>
            <a:r>
              <a:rPr lang="en-US" sz="2000" spc="-10" dirty="0">
                <a:latin typeface="Times New Roman"/>
                <a:cs typeface="Times New Roman"/>
              </a:rPr>
              <a:t>09665, 12109994</a:t>
            </a:r>
            <a:endParaRPr sz="2000" dirty="0">
              <a:latin typeface="Times New Roman"/>
              <a:cs typeface="Times New Roman"/>
            </a:endParaRPr>
          </a:p>
          <a:p>
            <a:pPr marL="12700">
              <a:lnSpc>
                <a:spcPct val="100000"/>
              </a:lnSpc>
              <a:spcBef>
                <a:spcPts val="60"/>
              </a:spcBef>
            </a:pPr>
            <a:r>
              <a:rPr sz="2000" dirty="0">
                <a:latin typeface="Times New Roman"/>
                <a:cs typeface="Times New Roman"/>
              </a:rPr>
              <a:t>ROLL</a:t>
            </a:r>
            <a:r>
              <a:rPr sz="2000" spc="-80" dirty="0">
                <a:latin typeface="Times New Roman"/>
                <a:cs typeface="Times New Roman"/>
              </a:rPr>
              <a:t> </a:t>
            </a:r>
            <a:r>
              <a:rPr sz="2000" dirty="0">
                <a:latin typeface="Times New Roman"/>
                <a:cs typeface="Times New Roman"/>
              </a:rPr>
              <a:t>No: </a:t>
            </a:r>
            <a:r>
              <a:rPr sz="2000" spc="-10" dirty="0">
                <a:latin typeface="Times New Roman"/>
                <a:cs typeface="Times New Roman"/>
              </a:rPr>
              <a:t>K21U</a:t>
            </a:r>
            <a:r>
              <a:rPr lang="en-US" sz="2000" spc="-10" dirty="0">
                <a:latin typeface="Times New Roman"/>
                <a:cs typeface="Times New Roman"/>
              </a:rPr>
              <a:t>PA14</a:t>
            </a:r>
            <a:r>
              <a:rPr sz="2000" dirty="0">
                <a:latin typeface="Times New Roman"/>
                <a:cs typeface="Times New Roman"/>
              </a:rPr>
              <a:t> ,</a:t>
            </a:r>
            <a:r>
              <a:rPr sz="2000" spc="-5" dirty="0">
                <a:latin typeface="Times New Roman"/>
                <a:cs typeface="Times New Roman"/>
              </a:rPr>
              <a:t> </a:t>
            </a:r>
            <a:r>
              <a:rPr sz="2000" spc="-10" dirty="0">
                <a:latin typeface="Times New Roman"/>
                <a:cs typeface="Times New Roman"/>
              </a:rPr>
              <a:t>K21UWA18</a:t>
            </a:r>
            <a:endParaRPr sz="2000" dirty="0">
              <a:latin typeface="Times New Roman"/>
              <a:cs typeface="Times New Roman"/>
            </a:endParaRPr>
          </a:p>
          <a:p>
            <a:pPr marL="12700">
              <a:lnSpc>
                <a:spcPct val="100000"/>
              </a:lnSpc>
              <a:spcBef>
                <a:spcPts val="55"/>
              </a:spcBef>
              <a:tabLst>
                <a:tab pos="1617980" algn="l"/>
              </a:tabLst>
            </a:pPr>
            <a:r>
              <a:rPr sz="2000" dirty="0">
                <a:latin typeface="Times New Roman"/>
                <a:cs typeface="Times New Roman"/>
              </a:rPr>
              <a:t>Course</a:t>
            </a:r>
            <a:r>
              <a:rPr sz="2000" spc="30" dirty="0">
                <a:latin typeface="Times New Roman"/>
                <a:cs typeface="Times New Roman"/>
              </a:rPr>
              <a:t> </a:t>
            </a:r>
            <a:r>
              <a:rPr sz="2000" dirty="0">
                <a:latin typeface="Times New Roman"/>
                <a:cs typeface="Times New Roman"/>
              </a:rPr>
              <a:t>Code</a:t>
            </a:r>
            <a:r>
              <a:rPr sz="2000" spc="35" dirty="0">
                <a:latin typeface="Times New Roman"/>
                <a:cs typeface="Times New Roman"/>
              </a:rPr>
              <a:t> </a:t>
            </a:r>
            <a:r>
              <a:rPr sz="2000" spc="-50" dirty="0">
                <a:latin typeface="Times New Roman"/>
                <a:cs typeface="Times New Roman"/>
              </a:rPr>
              <a:t>:</a:t>
            </a:r>
            <a:r>
              <a:rPr sz="2000" dirty="0">
                <a:latin typeface="Times New Roman"/>
                <a:cs typeface="Times New Roman"/>
              </a:rPr>
              <a:t>	CSE</a:t>
            </a:r>
            <a:r>
              <a:rPr sz="2000" spc="25" dirty="0">
                <a:latin typeface="Times New Roman"/>
                <a:cs typeface="Times New Roman"/>
              </a:rPr>
              <a:t> </a:t>
            </a:r>
            <a:r>
              <a:rPr sz="2000" dirty="0">
                <a:latin typeface="Times New Roman"/>
                <a:cs typeface="Times New Roman"/>
              </a:rPr>
              <a:t>-</a:t>
            </a:r>
            <a:r>
              <a:rPr sz="2000" spc="25" dirty="0">
                <a:latin typeface="Times New Roman"/>
                <a:cs typeface="Times New Roman"/>
              </a:rPr>
              <a:t> </a:t>
            </a:r>
            <a:r>
              <a:rPr sz="2000" spc="-25" dirty="0">
                <a:latin typeface="Times New Roman"/>
                <a:cs typeface="Times New Roman"/>
              </a:rPr>
              <a:t>461</a:t>
            </a:r>
            <a:endParaRPr sz="2000" dirty="0">
              <a:latin typeface="Times New Roman"/>
              <a:cs typeface="Times New Roman"/>
            </a:endParaRPr>
          </a:p>
          <a:p>
            <a:pPr marL="12700" marR="334010">
              <a:lnSpc>
                <a:spcPct val="102499"/>
              </a:lnSpc>
              <a:tabLst>
                <a:tab pos="1782445" algn="l"/>
              </a:tabLst>
            </a:pPr>
            <a:r>
              <a:rPr sz="2000" dirty="0">
                <a:latin typeface="Times New Roman"/>
                <a:cs typeface="Times New Roman"/>
              </a:rPr>
              <a:t>Current</a:t>
            </a:r>
            <a:r>
              <a:rPr sz="2000" spc="35" dirty="0">
                <a:latin typeface="Times New Roman"/>
                <a:cs typeface="Times New Roman"/>
              </a:rPr>
              <a:t> </a:t>
            </a:r>
            <a:r>
              <a:rPr sz="2000" spc="-10" dirty="0">
                <a:latin typeface="Times New Roman"/>
                <a:cs typeface="Times New Roman"/>
              </a:rPr>
              <a:t>mobile:</a:t>
            </a:r>
            <a:r>
              <a:rPr sz="2000" dirty="0">
                <a:latin typeface="Times New Roman"/>
                <a:cs typeface="Times New Roman"/>
              </a:rPr>
              <a:t>	+91</a:t>
            </a:r>
            <a:r>
              <a:rPr lang="en-US" sz="2000" dirty="0">
                <a:latin typeface="Times New Roman"/>
                <a:cs typeface="Times New Roman"/>
              </a:rPr>
              <a:t> 9110970097,</a:t>
            </a:r>
            <a:r>
              <a:rPr sz="2000" spc="70" dirty="0">
                <a:latin typeface="Times New Roman"/>
                <a:cs typeface="Times New Roman"/>
              </a:rPr>
              <a:t> </a:t>
            </a:r>
            <a:r>
              <a:rPr sz="2000" dirty="0">
                <a:latin typeface="Times New Roman"/>
                <a:cs typeface="Times New Roman"/>
              </a:rPr>
              <a:t>7</a:t>
            </a:r>
            <a:r>
              <a:rPr lang="en-US" sz="2000" dirty="0">
                <a:latin typeface="Times New Roman"/>
                <a:cs typeface="Times New Roman"/>
              </a:rPr>
              <a:t>024694879</a:t>
            </a:r>
            <a:r>
              <a:rPr sz="2000" spc="70" dirty="0">
                <a:latin typeface="Times New Roman"/>
                <a:cs typeface="Times New Roman"/>
              </a:rPr>
              <a:t> </a:t>
            </a:r>
            <a:r>
              <a:rPr sz="2000" dirty="0">
                <a:latin typeface="Times New Roman"/>
                <a:cs typeface="Times New Roman"/>
              </a:rPr>
              <a:t>Email:</a:t>
            </a:r>
            <a:r>
              <a:rPr sz="2000" spc="95" dirty="0">
                <a:latin typeface="Times New Roman"/>
                <a:cs typeface="Times New Roman"/>
              </a:rPr>
              <a:t> </a:t>
            </a:r>
            <a:r>
              <a:rPr lang="en-US" sz="2000" u="heavy" spc="-10" dirty="0">
                <a:solidFill>
                  <a:srgbClr val="0563C1"/>
                </a:solidFill>
                <a:uFill>
                  <a:solidFill>
                    <a:srgbClr val="0563C1"/>
                  </a:solidFill>
                </a:uFill>
                <a:latin typeface="Times New Roman"/>
                <a:cs typeface="Times New Roman"/>
                <a:hlinkClick r:id="rId2"/>
              </a:rPr>
              <a:t>munzirhassan.mh</a:t>
            </a:r>
            <a:r>
              <a:rPr sz="2000" u="heavy" spc="-10" dirty="0">
                <a:solidFill>
                  <a:srgbClr val="0563C1"/>
                </a:solidFill>
                <a:uFill>
                  <a:solidFill>
                    <a:srgbClr val="0563C1"/>
                  </a:solidFill>
                </a:uFill>
                <a:latin typeface="Times New Roman"/>
                <a:cs typeface="Times New Roman"/>
                <a:hlinkClick r:id="rId2"/>
              </a:rPr>
              <a:t>@gmail.com</a:t>
            </a:r>
            <a:endParaRPr sz="2000" dirty="0">
              <a:latin typeface="Times New Roman"/>
              <a:cs typeface="Times New Roman"/>
            </a:endParaRPr>
          </a:p>
          <a:p>
            <a:pPr marL="12700">
              <a:lnSpc>
                <a:spcPct val="100000"/>
              </a:lnSpc>
              <a:spcBef>
                <a:spcPts val="60"/>
              </a:spcBef>
              <a:tabLst>
                <a:tab pos="722630" algn="l"/>
              </a:tabLst>
            </a:pPr>
            <a:endParaRPr sz="2000" dirty="0">
              <a:latin typeface="Times New Roman"/>
              <a:cs typeface="Times New Roman"/>
            </a:endParaRPr>
          </a:p>
        </p:txBody>
      </p:sp>
      <p:pic>
        <p:nvPicPr>
          <p:cNvPr id="4" name="object 4"/>
          <p:cNvPicPr/>
          <p:nvPr/>
        </p:nvPicPr>
        <p:blipFill>
          <a:blip r:embed="rId3" cstate="print"/>
          <a:stretch>
            <a:fillRect/>
          </a:stretch>
        </p:blipFill>
        <p:spPr>
          <a:xfrm>
            <a:off x="4481230" y="1912358"/>
            <a:ext cx="2825496" cy="2383773"/>
          </a:xfrm>
          <a:prstGeom prst="rect">
            <a:avLst/>
          </a:prstGeom>
        </p:spPr>
      </p:pic>
      <p:sp>
        <p:nvSpPr>
          <p:cNvPr id="5" name="object 5"/>
          <p:cNvSpPr txBox="1"/>
          <p:nvPr/>
        </p:nvSpPr>
        <p:spPr>
          <a:xfrm>
            <a:off x="7620000" y="4114800"/>
            <a:ext cx="4088765" cy="2202180"/>
          </a:xfrm>
          <a:prstGeom prst="rect">
            <a:avLst/>
          </a:prstGeom>
        </p:spPr>
        <p:txBody>
          <a:bodyPr vert="horz" wrap="square" lIns="0" tIns="106045" rIns="0" bIns="0" rtlCol="0">
            <a:spAutoFit/>
          </a:bodyPr>
          <a:lstStyle/>
          <a:p>
            <a:pPr marL="12700">
              <a:lnSpc>
                <a:spcPct val="100000"/>
              </a:lnSpc>
              <a:spcBef>
                <a:spcPts val="835"/>
              </a:spcBef>
              <a:tabLst>
                <a:tab pos="1733550" algn="l"/>
              </a:tabLst>
            </a:pPr>
            <a:r>
              <a:rPr sz="2200" dirty="0">
                <a:latin typeface="Times New Roman"/>
                <a:cs typeface="Times New Roman"/>
              </a:rPr>
              <a:t>Submitted</a:t>
            </a:r>
            <a:r>
              <a:rPr sz="2200" spc="-135" dirty="0">
                <a:latin typeface="Times New Roman"/>
                <a:cs typeface="Times New Roman"/>
              </a:rPr>
              <a:t> </a:t>
            </a:r>
            <a:r>
              <a:rPr sz="2200" spc="-25" dirty="0">
                <a:latin typeface="Times New Roman"/>
                <a:cs typeface="Times New Roman"/>
              </a:rPr>
              <a:t>To:</a:t>
            </a:r>
            <a:r>
              <a:rPr sz="2200" dirty="0">
                <a:latin typeface="Times New Roman"/>
                <a:cs typeface="Times New Roman"/>
              </a:rPr>
              <a:t>	Karan</a:t>
            </a:r>
            <a:r>
              <a:rPr sz="2200" spc="-60" dirty="0">
                <a:latin typeface="Times New Roman"/>
                <a:cs typeface="Times New Roman"/>
              </a:rPr>
              <a:t> </a:t>
            </a:r>
            <a:r>
              <a:rPr sz="2200" dirty="0">
                <a:latin typeface="Times New Roman"/>
                <a:cs typeface="Times New Roman"/>
              </a:rPr>
              <a:t>Kumar</a:t>
            </a:r>
            <a:r>
              <a:rPr sz="2200" spc="-55" dirty="0">
                <a:latin typeface="Times New Roman"/>
                <a:cs typeface="Times New Roman"/>
              </a:rPr>
              <a:t> </a:t>
            </a:r>
            <a:r>
              <a:rPr sz="2200" spc="-25" dirty="0">
                <a:latin typeface="Times New Roman"/>
                <a:cs typeface="Times New Roman"/>
              </a:rPr>
              <a:t>Das</a:t>
            </a:r>
            <a:endParaRPr sz="2200" dirty="0">
              <a:latin typeface="Times New Roman"/>
              <a:cs typeface="Times New Roman"/>
            </a:endParaRPr>
          </a:p>
          <a:p>
            <a:pPr marL="12700" marR="5080">
              <a:lnSpc>
                <a:spcPts val="2380"/>
              </a:lnSpc>
              <a:spcBef>
                <a:spcPts val="1030"/>
              </a:spcBef>
            </a:pPr>
            <a:r>
              <a:rPr sz="2200" dirty="0">
                <a:latin typeface="Times New Roman"/>
                <a:cs typeface="Times New Roman"/>
              </a:rPr>
              <a:t>Dept:</a:t>
            </a:r>
            <a:r>
              <a:rPr sz="2200" spc="-45" dirty="0">
                <a:latin typeface="Times New Roman"/>
                <a:cs typeface="Times New Roman"/>
              </a:rPr>
              <a:t> </a:t>
            </a:r>
            <a:r>
              <a:rPr sz="2200" dirty="0" err="1">
                <a:latin typeface="Times New Roman"/>
                <a:cs typeface="Times New Roman"/>
              </a:rPr>
              <a:t>upGrad</a:t>
            </a:r>
            <a:r>
              <a:rPr sz="2200" dirty="0">
                <a:latin typeface="Times New Roman"/>
                <a:cs typeface="Times New Roman"/>
              </a:rPr>
              <a:t>(Delivery</a:t>
            </a:r>
            <a:r>
              <a:rPr sz="2200" spc="-40" dirty="0">
                <a:latin typeface="Times New Roman"/>
                <a:cs typeface="Times New Roman"/>
              </a:rPr>
              <a:t> </a:t>
            </a:r>
            <a:r>
              <a:rPr sz="2200" dirty="0">
                <a:latin typeface="Times New Roman"/>
                <a:cs typeface="Times New Roman"/>
              </a:rPr>
              <a:t>and</a:t>
            </a:r>
            <a:r>
              <a:rPr sz="2200" spc="-35" dirty="0">
                <a:latin typeface="Times New Roman"/>
                <a:cs typeface="Times New Roman"/>
              </a:rPr>
              <a:t> </a:t>
            </a:r>
            <a:r>
              <a:rPr sz="2200" spc="-10" dirty="0">
                <a:latin typeface="Times New Roman"/>
                <a:cs typeface="Times New Roman"/>
              </a:rPr>
              <a:t>Student Success)</a:t>
            </a:r>
            <a:endParaRPr sz="2200" dirty="0">
              <a:latin typeface="Times New Roman"/>
              <a:cs typeface="Times New Roman"/>
            </a:endParaRPr>
          </a:p>
          <a:p>
            <a:pPr marL="12700" marR="259079">
              <a:lnSpc>
                <a:spcPts val="2380"/>
              </a:lnSpc>
              <a:spcBef>
                <a:spcPts val="995"/>
              </a:spcBef>
              <a:tabLst>
                <a:tab pos="1406525" algn="l"/>
                <a:tab pos="2337435" algn="l"/>
              </a:tabLst>
            </a:pPr>
            <a:r>
              <a:rPr sz="2200" spc="-10" dirty="0">
                <a:latin typeface="Times New Roman"/>
                <a:cs typeface="Times New Roman"/>
              </a:rPr>
              <a:t>University:</a:t>
            </a:r>
            <a:r>
              <a:rPr sz="2200" dirty="0">
                <a:latin typeface="Times New Roman"/>
                <a:cs typeface="Times New Roman"/>
              </a:rPr>
              <a:t>	</a:t>
            </a:r>
            <a:r>
              <a:rPr sz="2200" spc="-10" dirty="0">
                <a:latin typeface="Times New Roman"/>
                <a:cs typeface="Times New Roman"/>
              </a:rPr>
              <a:t>Lovely</a:t>
            </a:r>
            <a:r>
              <a:rPr sz="2200" dirty="0">
                <a:latin typeface="Times New Roman"/>
                <a:cs typeface="Times New Roman"/>
              </a:rPr>
              <a:t>	</a:t>
            </a:r>
            <a:r>
              <a:rPr sz="2200" spc="-10" dirty="0">
                <a:latin typeface="Times New Roman"/>
                <a:cs typeface="Times New Roman"/>
              </a:rPr>
              <a:t>Professional </a:t>
            </a:r>
            <a:r>
              <a:rPr sz="2200" dirty="0">
                <a:latin typeface="Times New Roman"/>
                <a:cs typeface="Times New Roman"/>
              </a:rPr>
              <a:t>University</a:t>
            </a:r>
            <a:r>
              <a:rPr sz="2200" spc="-25" dirty="0">
                <a:latin typeface="Times New Roman"/>
                <a:cs typeface="Times New Roman"/>
              </a:rPr>
              <a:t> </a:t>
            </a:r>
            <a:r>
              <a:rPr sz="2200" dirty="0">
                <a:latin typeface="Times New Roman"/>
                <a:cs typeface="Times New Roman"/>
              </a:rPr>
              <a:t>Jalandhar</a:t>
            </a:r>
            <a:r>
              <a:rPr sz="2200" spc="-20" dirty="0">
                <a:latin typeface="Times New Roman"/>
                <a:cs typeface="Times New Roman"/>
              </a:rPr>
              <a:t> </a:t>
            </a:r>
            <a:r>
              <a:rPr sz="2200" dirty="0">
                <a:latin typeface="Times New Roman"/>
                <a:cs typeface="Times New Roman"/>
              </a:rPr>
              <a:t>Punjab</a:t>
            </a:r>
            <a:r>
              <a:rPr sz="2200" spc="-20" dirty="0">
                <a:latin typeface="Times New Roman"/>
                <a:cs typeface="Times New Roman"/>
              </a:rPr>
              <a:t> </a:t>
            </a:r>
            <a:r>
              <a:rPr sz="2200" spc="-10" dirty="0">
                <a:latin typeface="Times New Roman"/>
                <a:cs typeface="Times New Roman"/>
              </a:rPr>
              <a:t>India</a:t>
            </a:r>
            <a:endParaRPr sz="2200" dirty="0">
              <a:latin typeface="Times New Roman"/>
              <a:cs typeface="Times New Roman"/>
            </a:endParaRPr>
          </a:p>
          <a:p>
            <a:pPr marR="256540" algn="r">
              <a:lnSpc>
                <a:spcPct val="100000"/>
              </a:lnSpc>
              <a:spcBef>
                <a:spcPts val="1135"/>
              </a:spcBef>
            </a:pPr>
            <a:r>
              <a:rPr sz="900" spc="-50" dirty="0">
                <a:solidFill>
                  <a:srgbClr val="888888"/>
                </a:solidFill>
                <a:latin typeface="Calibri"/>
                <a:cs typeface="Calibri"/>
              </a:rPr>
              <a:t>1</a:t>
            </a:r>
            <a:endParaRPr sz="900" dirty="0">
              <a:latin typeface="Calibri"/>
              <a:cs typeface="Calibri"/>
            </a:endParaRPr>
          </a:p>
        </p:txBody>
      </p:sp>
      <p:pic>
        <p:nvPicPr>
          <p:cNvPr id="6" name="object 6"/>
          <p:cNvPicPr/>
          <p:nvPr/>
        </p:nvPicPr>
        <p:blipFill>
          <a:blip r:embed="rId4" cstate="print"/>
          <a:stretch>
            <a:fillRect/>
          </a:stretch>
        </p:blipFill>
        <p:spPr>
          <a:xfrm>
            <a:off x="264303" y="804284"/>
            <a:ext cx="1781011" cy="1509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A9BD-DC63-4D4A-2040-EE32C97F79F6}"/>
              </a:ext>
            </a:extLst>
          </p:cNvPr>
          <p:cNvSpPr>
            <a:spLocks noGrp="1"/>
          </p:cNvSpPr>
          <p:nvPr>
            <p:ph type="title"/>
          </p:nvPr>
        </p:nvSpPr>
        <p:spPr>
          <a:xfrm>
            <a:off x="650541" y="658005"/>
            <a:ext cx="10304227" cy="430887"/>
          </a:xfrm>
        </p:spPr>
        <p:txBody>
          <a:bodyPr/>
          <a:lstStyle/>
          <a:p>
            <a:r>
              <a:rPr lang="en-US" sz="2800" dirty="0"/>
              <a:t>PRESENTATION OUTLINE:</a:t>
            </a:r>
          </a:p>
        </p:txBody>
      </p:sp>
      <p:sp>
        <p:nvSpPr>
          <p:cNvPr id="3" name="Text Placeholder 2">
            <a:extLst>
              <a:ext uri="{FF2B5EF4-FFF2-40B4-BE49-F238E27FC236}">
                <a16:creationId xmlns:a16="http://schemas.microsoft.com/office/drawing/2014/main" id="{3904A857-AB68-E23F-EEB9-3505BA638732}"/>
              </a:ext>
            </a:extLst>
          </p:cNvPr>
          <p:cNvSpPr>
            <a:spLocks noGrp="1"/>
          </p:cNvSpPr>
          <p:nvPr>
            <p:ph type="body" idx="1"/>
          </p:nvPr>
        </p:nvSpPr>
        <p:spPr>
          <a:xfrm>
            <a:off x="623109" y="1295400"/>
            <a:ext cx="8188659" cy="8002191"/>
          </a:xfrm>
        </p:spPr>
        <p:txBody>
          <a:bodyPr/>
          <a:lstStyle/>
          <a:p>
            <a:pPr marL="342900" indent="-342900">
              <a:buFont typeface="Arial" panose="020B0604020202020204" pitchFamily="34" charset="0"/>
              <a:buChar char="•"/>
            </a:pPr>
            <a:r>
              <a:rPr lang="en-US" sz="2000" b="0" dirty="0"/>
              <a:t>Introduction</a:t>
            </a:r>
          </a:p>
          <a:p>
            <a:pPr marL="342900" indent="-342900">
              <a:buFont typeface="Arial" panose="020B0604020202020204" pitchFamily="34" charset="0"/>
              <a:buChar char="•"/>
            </a:pPr>
            <a:r>
              <a:rPr lang="en-US" sz="2000" b="0" dirty="0"/>
              <a:t>Project</a:t>
            </a:r>
            <a:r>
              <a:rPr lang="en-US" sz="2000" b="0" spc="-145" dirty="0"/>
              <a:t> </a:t>
            </a:r>
            <a:r>
              <a:rPr lang="en-US" sz="2000" b="0" dirty="0"/>
              <a:t>Aim</a:t>
            </a:r>
          </a:p>
          <a:p>
            <a:pPr marL="342900" indent="-342900">
              <a:buFont typeface="Arial" panose="020B0604020202020204" pitchFamily="34" charset="0"/>
              <a:buChar char="•"/>
            </a:pPr>
            <a:r>
              <a:rPr lang="en-US" sz="2000" b="0" dirty="0"/>
              <a:t>Problem Statement</a:t>
            </a:r>
          </a:p>
          <a:p>
            <a:pPr marL="342900" indent="-342900">
              <a:buFont typeface="Arial" panose="020B0604020202020204" pitchFamily="34" charset="0"/>
              <a:buChar char="•"/>
            </a:pPr>
            <a:r>
              <a:rPr lang="en-US" sz="2000" b="0" dirty="0"/>
              <a:t>Literature Review</a:t>
            </a:r>
          </a:p>
          <a:p>
            <a:pPr marL="342900" indent="-342900">
              <a:buFont typeface="Arial" panose="020B0604020202020204" pitchFamily="34" charset="0"/>
              <a:buChar char="•"/>
            </a:pPr>
            <a:r>
              <a:rPr lang="en-US" sz="2000" b="0" dirty="0"/>
              <a:t>Project</a:t>
            </a:r>
            <a:r>
              <a:rPr lang="en-US" sz="2000" b="0" spc="-50" dirty="0"/>
              <a:t> </a:t>
            </a:r>
            <a:r>
              <a:rPr lang="en-US" sz="2000" b="0" dirty="0"/>
              <a:t>Objectives</a:t>
            </a:r>
          </a:p>
          <a:p>
            <a:pPr marL="342900" indent="-342900">
              <a:buFont typeface="Arial" panose="020B0604020202020204" pitchFamily="34" charset="0"/>
              <a:buChar char="•"/>
            </a:pPr>
            <a:r>
              <a:rPr lang="en-US" sz="2000" b="0" dirty="0"/>
              <a:t>Quantitative Analysis</a:t>
            </a:r>
          </a:p>
          <a:p>
            <a:pPr marL="342900" indent="-342900">
              <a:buFont typeface="Arial" panose="020B0604020202020204" pitchFamily="34" charset="0"/>
              <a:buChar char="•"/>
            </a:pPr>
            <a:r>
              <a:rPr lang="en-US" sz="2000" b="0" dirty="0"/>
              <a:t>Results Summary</a:t>
            </a:r>
          </a:p>
          <a:p>
            <a:pPr marL="342900" indent="-342900">
              <a:buFont typeface="Arial" panose="020B0604020202020204" pitchFamily="34" charset="0"/>
              <a:buChar char="•"/>
            </a:pPr>
            <a:r>
              <a:rPr lang="en-US" sz="2000" b="0" dirty="0"/>
              <a:t>Confusion Matrix Analysis</a:t>
            </a:r>
          </a:p>
          <a:p>
            <a:pPr marL="342900" indent="-342900">
              <a:buFont typeface="Arial" panose="020B0604020202020204" pitchFamily="34" charset="0"/>
              <a:buChar char="•"/>
            </a:pPr>
            <a:r>
              <a:rPr lang="en-US" sz="2000" b="0" dirty="0"/>
              <a:t>Results and Discussion</a:t>
            </a:r>
          </a:p>
          <a:p>
            <a:pPr marL="342900" indent="-342900">
              <a:buFont typeface="Arial" panose="020B0604020202020204" pitchFamily="34" charset="0"/>
              <a:buChar char="•"/>
            </a:pPr>
            <a:r>
              <a:rPr lang="en-US" sz="2000" b="0" dirty="0"/>
              <a:t>Interpretation of Results</a:t>
            </a:r>
          </a:p>
          <a:p>
            <a:pPr marL="342900" indent="-342900">
              <a:buFont typeface="Arial" panose="020B0604020202020204" pitchFamily="34" charset="0"/>
              <a:buChar char="•"/>
            </a:pPr>
            <a:r>
              <a:rPr lang="en-US" sz="2000" b="0" dirty="0"/>
              <a:t>Training Performance</a:t>
            </a:r>
          </a:p>
          <a:p>
            <a:pPr marL="342900" indent="-342900">
              <a:buFont typeface="Arial" panose="020B0604020202020204" pitchFamily="34" charset="0"/>
              <a:buChar char="•"/>
            </a:pPr>
            <a:r>
              <a:rPr lang="en-US" sz="2000" b="0" dirty="0"/>
              <a:t>Performance Metrics</a:t>
            </a:r>
          </a:p>
          <a:p>
            <a:pPr marL="342900" indent="-342900">
              <a:buFont typeface="Arial" panose="020B0604020202020204" pitchFamily="34" charset="0"/>
              <a:buChar char="•"/>
            </a:pPr>
            <a:r>
              <a:rPr lang="en-US" sz="2000" b="0" dirty="0"/>
              <a:t>Visualizations</a:t>
            </a:r>
          </a:p>
          <a:p>
            <a:pPr marL="342900" indent="-342900">
              <a:buFont typeface="Arial" panose="020B0604020202020204" pitchFamily="34" charset="0"/>
              <a:buChar char="•"/>
            </a:pPr>
            <a:r>
              <a:rPr lang="en-US" sz="2000" b="0" dirty="0" err="1"/>
              <a:t>Streamlit</a:t>
            </a:r>
            <a:r>
              <a:rPr lang="en-US" sz="2000" b="0" dirty="0"/>
              <a:t> Deployment</a:t>
            </a:r>
          </a:p>
          <a:p>
            <a:pPr marL="342900" indent="-342900">
              <a:buFont typeface="Arial" panose="020B0604020202020204" pitchFamily="34" charset="0"/>
              <a:buChar char="•"/>
            </a:pPr>
            <a:r>
              <a:rPr lang="en-US" sz="2000" b="0" dirty="0"/>
              <a:t>Future Scope</a:t>
            </a:r>
          </a:p>
          <a:p>
            <a:pPr marL="342900" indent="-342900">
              <a:buFont typeface="Arial" panose="020B0604020202020204" pitchFamily="34" charset="0"/>
              <a:buChar char="•"/>
            </a:pPr>
            <a:r>
              <a:rPr lang="en-US" sz="2000" b="0" dirty="0"/>
              <a:t>Conclusion</a:t>
            </a:r>
          </a:p>
          <a:p>
            <a:pPr marL="342900" indent="-342900">
              <a:buFont typeface="Arial" panose="020B0604020202020204" pitchFamily="34" charset="0"/>
              <a:buChar char="•"/>
            </a:pPr>
            <a:r>
              <a:rPr lang="en-US" sz="2000" b="0" dirty="0"/>
              <a:t>References</a:t>
            </a:r>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p:txBody>
      </p:sp>
    </p:spTree>
    <p:extLst>
      <p:ext uri="{BB962C8B-B14F-4D97-AF65-F5344CB8AC3E}">
        <p14:creationId xmlns:p14="http://schemas.microsoft.com/office/powerpoint/2010/main" val="2745223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541" y="658005"/>
            <a:ext cx="10304227" cy="744345"/>
          </a:xfrm>
          <a:prstGeom prst="rect">
            <a:avLst/>
          </a:prstGeom>
        </p:spPr>
        <p:txBody>
          <a:bodyPr vert="horz" wrap="square" lIns="0" tIns="310426" rIns="0" bIns="0" rtlCol="0">
            <a:spAutoFit/>
          </a:bodyPr>
          <a:lstStyle/>
          <a:p>
            <a:pPr marL="273050">
              <a:lnSpc>
                <a:spcPct val="100000"/>
              </a:lnSpc>
              <a:spcBef>
                <a:spcPts val="100"/>
              </a:spcBef>
            </a:pPr>
            <a:r>
              <a:rPr sz="2800" dirty="0"/>
              <a:t>Introduction:</a:t>
            </a:r>
            <a:r>
              <a:rPr sz="2800" spc="-35" dirty="0"/>
              <a:t> </a:t>
            </a:r>
            <a:r>
              <a:rPr sz="2800" dirty="0"/>
              <a:t>The</a:t>
            </a:r>
            <a:r>
              <a:rPr sz="2800" spc="-40" dirty="0"/>
              <a:t> </a:t>
            </a:r>
            <a:r>
              <a:rPr sz="2800" dirty="0"/>
              <a:t>Need</a:t>
            </a:r>
            <a:r>
              <a:rPr sz="2800" spc="-35" dirty="0"/>
              <a:t> </a:t>
            </a:r>
            <a:r>
              <a:rPr sz="2800" dirty="0"/>
              <a:t>for</a:t>
            </a:r>
            <a:r>
              <a:rPr sz="2800" spc="-155" dirty="0"/>
              <a:t> </a:t>
            </a:r>
            <a:r>
              <a:rPr sz="2800" dirty="0"/>
              <a:t>AI</a:t>
            </a:r>
            <a:r>
              <a:rPr sz="2800" spc="-40" dirty="0"/>
              <a:t> </a:t>
            </a:r>
            <a:r>
              <a:rPr sz="2800" dirty="0"/>
              <a:t>in</a:t>
            </a:r>
            <a:r>
              <a:rPr sz="2800" spc="-40" dirty="0"/>
              <a:t> </a:t>
            </a:r>
            <a:r>
              <a:rPr lang="en-US" sz="2800" dirty="0"/>
              <a:t>Skin Care Recommendation</a:t>
            </a:r>
            <a:endParaRPr sz="2800" spc="-10" dirty="0"/>
          </a:p>
        </p:txBody>
      </p:sp>
      <p:sp>
        <p:nvSpPr>
          <p:cNvPr id="3" name="object 3"/>
          <p:cNvSpPr txBox="1"/>
          <p:nvPr/>
        </p:nvSpPr>
        <p:spPr>
          <a:xfrm>
            <a:off x="637972" y="1752600"/>
            <a:ext cx="11160459" cy="3066865"/>
          </a:xfrm>
          <a:prstGeom prst="rect">
            <a:avLst/>
          </a:prstGeom>
        </p:spPr>
        <p:txBody>
          <a:bodyPr vert="horz" wrap="square" lIns="0" tIns="50165" rIns="0" bIns="0" rtlCol="0">
            <a:spAutoFit/>
          </a:bodyPr>
          <a:lstStyle/>
          <a:p>
            <a:pPr marL="271145" marR="5080" indent="-128905" algn="just">
              <a:lnSpc>
                <a:spcPts val="2380"/>
              </a:lnSpc>
              <a:spcBef>
                <a:spcPts val="395"/>
              </a:spcBef>
              <a:buFont typeface="Arial MT"/>
              <a:buChar char="•"/>
              <a:tabLst>
                <a:tab pos="272415" algn="l"/>
              </a:tabLst>
            </a:pPr>
            <a:r>
              <a:rPr lang="en-US" spc="-20" dirty="0">
                <a:latin typeface="Times New Roman" panose="02020603050405020304" pitchFamily="18" charset="0"/>
                <a:cs typeface="Times New Roman" panose="02020603050405020304" pitchFamily="18" charset="0"/>
              </a:rPr>
              <a:t>The need for AI in skincare systems arises from the limitations of traditional methods, which often rely on subjective assessments and generalized solutions. AI can analyze complex skin features, classify conditions accurately, and provide personalized product recommendations tailored to individual needs.</a:t>
            </a:r>
          </a:p>
          <a:p>
            <a:pPr marL="100965">
              <a:lnSpc>
                <a:spcPct val="100000"/>
              </a:lnSpc>
            </a:pPr>
            <a:endParaRPr lang="en-US" sz="2200" spc="-20" dirty="0">
              <a:latin typeface="Times New Roman" panose="02020603050405020304" pitchFamily="18" charset="0"/>
              <a:cs typeface="Times New Roman" panose="02020603050405020304" pitchFamily="18" charset="0"/>
            </a:endParaRPr>
          </a:p>
          <a:p>
            <a:pPr marL="100965">
              <a:lnSpc>
                <a:spcPct val="100000"/>
              </a:lnSpc>
            </a:pPr>
            <a:r>
              <a:rPr lang="en-US" sz="2200" b="1" dirty="0">
                <a:latin typeface="Times New Roman" panose="02020603050405020304" pitchFamily="18" charset="0"/>
                <a:cs typeface="Times New Roman" panose="02020603050405020304" pitchFamily="18" charset="0"/>
              </a:rPr>
              <a:t>Challenges</a:t>
            </a:r>
            <a:r>
              <a:rPr lang="en-US" sz="2200" b="1" spc="-6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in</a:t>
            </a:r>
            <a:r>
              <a:rPr lang="en-US" sz="2200" b="1" spc="-85" dirty="0">
                <a:latin typeface="Times New Roman" panose="02020603050405020304" pitchFamily="18" charset="0"/>
                <a:cs typeface="Times New Roman" panose="02020603050405020304" pitchFamily="18" charset="0"/>
              </a:rPr>
              <a:t> </a:t>
            </a:r>
            <a:r>
              <a:rPr lang="en-US" sz="2200" b="1" spc="-10" dirty="0">
                <a:latin typeface="Times New Roman" panose="02020603050405020304" pitchFamily="18" charset="0"/>
                <a:cs typeface="Times New Roman" panose="02020603050405020304" pitchFamily="18" charset="0"/>
              </a:rPr>
              <a:t>skin care recommendation:</a:t>
            </a:r>
            <a:endParaRPr lang="en-US" sz="2200" dirty="0">
              <a:latin typeface="Times New Roman" panose="02020603050405020304" pitchFamily="18" charset="0"/>
              <a:cs typeface="Times New Roman" panose="02020603050405020304" pitchFamily="18" charset="0"/>
            </a:endParaRPr>
          </a:p>
          <a:p>
            <a:pPr marL="485140" marR="5080" indent="-342900" algn="just">
              <a:lnSpc>
                <a:spcPts val="2380"/>
              </a:lnSpc>
              <a:spcBef>
                <a:spcPts val="395"/>
              </a:spcBef>
              <a:buFont typeface="Arial" panose="020B0604020202020204" pitchFamily="34" charset="0"/>
              <a:buChar char="•"/>
              <a:tabLst>
                <a:tab pos="272415" algn="l"/>
              </a:tabLst>
            </a:pPr>
            <a:r>
              <a:rPr lang="en-US" dirty="0">
                <a:latin typeface="Times New Roman" panose="02020603050405020304" pitchFamily="18" charset="0"/>
                <a:cs typeface="Times New Roman" panose="02020603050405020304" pitchFamily="18" charset="0"/>
              </a:rPr>
              <a:t>Data Bias: Limited or unbalanced data across different skin tones and types can lead to inaccurate results.</a:t>
            </a:r>
          </a:p>
          <a:p>
            <a:pPr marL="485140" marR="5080" indent="-342900" algn="just">
              <a:lnSpc>
                <a:spcPts val="2380"/>
              </a:lnSpc>
              <a:spcBef>
                <a:spcPts val="395"/>
              </a:spcBef>
              <a:buFont typeface="Arial" panose="020B0604020202020204" pitchFamily="34" charset="0"/>
              <a:buChar char="•"/>
              <a:tabLst>
                <a:tab pos="272415" algn="l"/>
              </a:tabLst>
            </a:pPr>
            <a:r>
              <a:rPr lang="en-US" dirty="0">
                <a:latin typeface="Times New Roman" panose="02020603050405020304" pitchFamily="18" charset="0"/>
                <a:cs typeface="Times New Roman" panose="02020603050405020304" pitchFamily="18" charset="0"/>
              </a:rPr>
              <a:t>Privacy Concerns: Handling sensitive user data requires strict protection and ethical use.</a:t>
            </a:r>
          </a:p>
          <a:p>
            <a:pPr marL="485140" marR="5080" indent="-342900" algn="just">
              <a:lnSpc>
                <a:spcPts val="2380"/>
              </a:lnSpc>
              <a:spcBef>
                <a:spcPts val="395"/>
              </a:spcBef>
              <a:buFont typeface="Arial" panose="020B0604020202020204" pitchFamily="34" charset="0"/>
              <a:buChar char="•"/>
              <a:tabLst>
                <a:tab pos="272415" algn="l"/>
              </a:tabLst>
            </a:pPr>
            <a:r>
              <a:rPr lang="en-US" dirty="0">
                <a:latin typeface="Times New Roman" panose="02020603050405020304" pitchFamily="18" charset="0"/>
                <a:cs typeface="Times New Roman" panose="02020603050405020304" pitchFamily="18" charset="0"/>
              </a:rPr>
              <a:t>Cold Start Problem: New users with little data make it difficult to provide accurate personalized recommendations initially</a:t>
            </a:r>
            <a:r>
              <a:rPr lang="en-US" sz="2200" dirty="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464" y="533400"/>
            <a:ext cx="10304227" cy="821289"/>
          </a:xfrm>
          <a:prstGeom prst="rect">
            <a:avLst/>
          </a:prstGeom>
        </p:spPr>
        <p:txBody>
          <a:bodyPr vert="horz" wrap="square" lIns="0" tIns="310426" rIns="0" bIns="0" rtlCol="0">
            <a:spAutoFit/>
          </a:bodyPr>
          <a:lstStyle/>
          <a:p>
            <a:pPr marL="273050">
              <a:lnSpc>
                <a:spcPct val="100000"/>
              </a:lnSpc>
              <a:spcBef>
                <a:spcPts val="100"/>
              </a:spcBef>
            </a:pPr>
            <a:r>
              <a:rPr dirty="0"/>
              <a:t>Project</a:t>
            </a:r>
            <a:r>
              <a:rPr spc="-145" dirty="0"/>
              <a:t> </a:t>
            </a:r>
            <a:r>
              <a:rPr dirty="0"/>
              <a:t>Aim:</a:t>
            </a:r>
            <a:endParaRPr spc="-25"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4</a:t>
            </a:fld>
            <a:endParaRPr spc="-25" dirty="0"/>
          </a:p>
        </p:txBody>
      </p:sp>
      <p:sp>
        <p:nvSpPr>
          <p:cNvPr id="3" name="object 3"/>
          <p:cNvSpPr txBox="1"/>
          <p:nvPr/>
        </p:nvSpPr>
        <p:spPr>
          <a:xfrm>
            <a:off x="228600" y="1670574"/>
            <a:ext cx="7848600" cy="4361066"/>
          </a:xfrm>
          <a:prstGeom prst="rect">
            <a:avLst/>
          </a:prstGeom>
        </p:spPr>
        <p:txBody>
          <a:bodyPr vert="horz" wrap="square" lIns="0" tIns="50165" rIns="0" bIns="0" rtlCol="0">
            <a:spAutoFit/>
          </a:bodyPr>
          <a:lstStyle/>
          <a:p>
            <a:pPr marL="318770" marR="5080" indent="-128905" algn="just">
              <a:lnSpc>
                <a:spcPct val="150000"/>
              </a:lnSpc>
              <a:spcBef>
                <a:spcPts val="395"/>
              </a:spcBef>
              <a:buFont typeface="Arial MT"/>
              <a:buChar char="•"/>
              <a:tabLst>
                <a:tab pos="320040" algn="l"/>
              </a:tabLst>
            </a:pPr>
            <a:r>
              <a:rPr lang="en-US" dirty="0">
                <a:latin typeface="Times New Roman"/>
                <a:cs typeface="Times New Roman"/>
              </a:rPr>
              <a:t>To design an accurate and explainable deep learning model for skincare product recommendation.</a:t>
            </a:r>
          </a:p>
          <a:p>
            <a:pPr marL="318770" marR="5080" indent="-128905" algn="just">
              <a:lnSpc>
                <a:spcPct val="150000"/>
              </a:lnSpc>
              <a:spcBef>
                <a:spcPts val="395"/>
              </a:spcBef>
              <a:buFont typeface="Arial MT"/>
              <a:buChar char="•"/>
              <a:tabLst>
                <a:tab pos="320040" algn="l"/>
              </a:tabLst>
            </a:pPr>
            <a:r>
              <a:rPr lang="en-US" dirty="0">
                <a:latin typeface="Times New Roman"/>
                <a:cs typeface="Times New Roman"/>
              </a:rPr>
              <a:t>To develop an intelligent dermatological system for classifying facial skin types—oily, dry, and normal—using deep learning.</a:t>
            </a:r>
          </a:p>
          <a:p>
            <a:pPr marL="318770" marR="5080" indent="-128905" algn="just">
              <a:lnSpc>
                <a:spcPct val="150000"/>
              </a:lnSpc>
              <a:spcBef>
                <a:spcPts val="395"/>
              </a:spcBef>
              <a:buFont typeface="Arial MT"/>
              <a:buChar char="•"/>
              <a:tabLst>
                <a:tab pos="320040" algn="l"/>
              </a:tabLst>
            </a:pPr>
            <a:r>
              <a:rPr lang="en-US" dirty="0">
                <a:latin typeface="Times New Roman"/>
                <a:cs typeface="Times New Roman"/>
              </a:rPr>
              <a:t>To employ ResNet-50 and EfficientNet-B0 architectures enhanced by ensemble learning for high accuracy.</a:t>
            </a:r>
          </a:p>
          <a:p>
            <a:pPr marL="318770" marR="5080" indent="-128905" algn="just">
              <a:lnSpc>
                <a:spcPct val="150000"/>
              </a:lnSpc>
              <a:spcBef>
                <a:spcPts val="395"/>
              </a:spcBef>
              <a:buFont typeface="Arial MT"/>
              <a:buChar char="•"/>
              <a:tabLst>
                <a:tab pos="320040" algn="l"/>
              </a:tabLst>
            </a:pPr>
            <a:r>
              <a:rPr lang="en-US" dirty="0">
                <a:latin typeface="Times New Roman"/>
                <a:cs typeface="Times New Roman"/>
              </a:rPr>
              <a:t>To preprocess facial images with resizing, normalization, and augmentation for robust model training.</a:t>
            </a:r>
          </a:p>
          <a:p>
            <a:pPr marL="318770" marR="5080" indent="-128905" algn="just">
              <a:lnSpc>
                <a:spcPct val="150000"/>
              </a:lnSpc>
              <a:spcBef>
                <a:spcPts val="395"/>
              </a:spcBef>
              <a:buFont typeface="Arial MT"/>
              <a:buChar char="•"/>
              <a:tabLst>
                <a:tab pos="320040" algn="l"/>
              </a:tabLst>
            </a:pPr>
            <a:r>
              <a:rPr lang="en-US" dirty="0">
                <a:latin typeface="Times New Roman"/>
                <a:cs typeface="Times New Roman"/>
              </a:rPr>
              <a:t>To recommend personalized skincare products based on AI-driven skin type analysis.</a:t>
            </a:r>
            <a:endParaRPr dirty="0">
              <a:latin typeface="Times New Roman"/>
              <a:cs typeface="Times New Roman"/>
            </a:endParaRPr>
          </a:p>
        </p:txBody>
      </p:sp>
      <p:pic>
        <p:nvPicPr>
          <p:cNvPr id="7" name="Picture 6" descr="A person with a face expression&#10;&#10;AI-generated content may be incorrect.">
            <a:extLst>
              <a:ext uri="{FF2B5EF4-FFF2-40B4-BE49-F238E27FC236}">
                <a16:creationId xmlns:a16="http://schemas.microsoft.com/office/drawing/2014/main" id="{3DC0E068-9E64-2149-A385-0BCBFD0D00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45036" y="2025463"/>
            <a:ext cx="3364992" cy="21655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813441"/>
            <a:ext cx="3353435" cy="443711"/>
          </a:xfrm>
          <a:prstGeom prst="rect">
            <a:avLst/>
          </a:prstGeom>
        </p:spPr>
        <p:txBody>
          <a:bodyPr vert="horz" wrap="square" lIns="0" tIns="12700" rIns="0" bIns="0" rtlCol="0">
            <a:spAutoFit/>
          </a:bodyPr>
          <a:lstStyle/>
          <a:p>
            <a:pPr marL="12700">
              <a:lnSpc>
                <a:spcPct val="100000"/>
              </a:lnSpc>
              <a:spcBef>
                <a:spcPts val="100"/>
              </a:spcBef>
            </a:pPr>
            <a:r>
              <a:rPr sz="2800" dirty="0"/>
              <a:t>Problem</a:t>
            </a:r>
            <a:r>
              <a:rPr sz="2800" spc="-150" dirty="0"/>
              <a:t> </a:t>
            </a:r>
            <a:r>
              <a:rPr sz="2800" spc="-10" dirty="0"/>
              <a:t>Statement:</a:t>
            </a:r>
            <a:endParaRPr sz="2800" dirty="0"/>
          </a:p>
        </p:txBody>
      </p:sp>
      <p:sp>
        <p:nvSpPr>
          <p:cNvPr id="3" name="object 3"/>
          <p:cNvSpPr txBox="1"/>
          <p:nvPr/>
        </p:nvSpPr>
        <p:spPr>
          <a:xfrm>
            <a:off x="911225" y="1439500"/>
            <a:ext cx="60325" cy="193040"/>
          </a:xfrm>
          <a:prstGeom prst="rect">
            <a:avLst/>
          </a:prstGeom>
        </p:spPr>
        <p:txBody>
          <a:bodyPr vert="horz" wrap="square" lIns="0" tIns="12700" rIns="0" bIns="0" rtlCol="0">
            <a:spAutoFit/>
          </a:bodyPr>
          <a:lstStyle/>
          <a:p>
            <a:pPr marL="12700">
              <a:lnSpc>
                <a:spcPct val="100000"/>
              </a:lnSpc>
              <a:spcBef>
                <a:spcPts val="100"/>
              </a:spcBef>
            </a:pPr>
            <a:r>
              <a:rPr sz="1100" spc="-50" dirty="0">
                <a:latin typeface="Times New Roman"/>
                <a:cs typeface="Times New Roman"/>
              </a:rPr>
              <a:t>.</a:t>
            </a:r>
            <a:endParaRPr sz="1100">
              <a:latin typeface="Times New Roman"/>
              <a:cs typeface="Times New Roman"/>
            </a:endParaRPr>
          </a:p>
        </p:txBody>
      </p:sp>
      <p:sp>
        <p:nvSpPr>
          <p:cNvPr id="4" name="object 4"/>
          <p:cNvSpPr txBox="1"/>
          <p:nvPr/>
        </p:nvSpPr>
        <p:spPr>
          <a:xfrm>
            <a:off x="953125" y="1813026"/>
            <a:ext cx="4939665" cy="3324885"/>
          </a:xfrm>
          <a:prstGeom prst="rect">
            <a:avLst/>
          </a:prstGeom>
        </p:spPr>
        <p:txBody>
          <a:bodyPr vert="horz" wrap="square" lIns="0" tIns="50165" rIns="0" bIns="0" rtlCol="0">
            <a:spAutoFit/>
          </a:bodyPr>
          <a:lstStyle/>
          <a:p>
            <a:pPr marL="140970" marR="389255" indent="-128905" algn="just">
              <a:lnSpc>
                <a:spcPct val="150000"/>
              </a:lnSpc>
              <a:spcBef>
                <a:spcPts val="395"/>
              </a:spcBef>
              <a:buFont typeface="Arial MT"/>
              <a:buChar char="•"/>
              <a:tabLst>
                <a:tab pos="142240" algn="l"/>
              </a:tabLst>
            </a:pPr>
            <a:r>
              <a:rPr lang="en-US" dirty="0">
                <a:latin typeface="Times New Roman" panose="02020603050405020304" pitchFamily="18" charset="0"/>
                <a:cs typeface="Times New Roman" panose="02020603050405020304" pitchFamily="18" charset="0"/>
              </a:rPr>
              <a:t>How can a deep learning-based system be designed to accurately and robustly classify facial skin types and recommend suitable skincare products, ensuring high performance across diverse skin tones, lighting conditions, and image qualities while remaining suitable for real-time deployment in mobile applications?</a:t>
            </a:r>
            <a:endParaRPr dirty="0">
              <a:latin typeface="Times New Roman" panose="02020603050405020304" pitchFamily="18" charset="0"/>
              <a:cs typeface="Times New Roman" panose="02020603050405020304" pitchFamily="18" charset="0"/>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5</a:t>
            </a:fld>
            <a:endParaRPr spc="-25" dirty="0"/>
          </a:p>
        </p:txBody>
      </p:sp>
      <p:pic>
        <p:nvPicPr>
          <p:cNvPr id="8" name="Picture 7" descr="A diagram of a problem statement&#10;&#10;AI-generated content may be incorrect.">
            <a:extLst>
              <a:ext uri="{FF2B5EF4-FFF2-40B4-BE49-F238E27FC236}">
                <a16:creationId xmlns:a16="http://schemas.microsoft.com/office/drawing/2014/main" id="{CAAB77BC-C0AD-B4A6-1638-E50E5BB2B73A}"/>
              </a:ext>
            </a:extLst>
          </p:cNvPr>
          <p:cNvPicPr>
            <a:picLocks noChangeAspect="1"/>
          </p:cNvPicPr>
          <p:nvPr/>
        </p:nvPicPr>
        <p:blipFill>
          <a:blip r:embed="rId2"/>
          <a:stretch>
            <a:fillRect/>
          </a:stretch>
        </p:blipFill>
        <p:spPr>
          <a:xfrm>
            <a:off x="6119202" y="850017"/>
            <a:ext cx="5200014" cy="46729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541" y="905934"/>
            <a:ext cx="9638030" cy="443711"/>
          </a:xfrm>
          <a:prstGeom prst="rect">
            <a:avLst/>
          </a:prstGeom>
        </p:spPr>
        <p:txBody>
          <a:bodyPr vert="horz" wrap="square" lIns="0" tIns="12700" rIns="0" bIns="0" rtlCol="0">
            <a:spAutoFit/>
          </a:bodyPr>
          <a:lstStyle/>
          <a:p>
            <a:pPr marL="12700">
              <a:lnSpc>
                <a:spcPct val="100000"/>
              </a:lnSpc>
              <a:spcBef>
                <a:spcPts val="100"/>
              </a:spcBef>
            </a:pPr>
            <a:r>
              <a:rPr sz="2800" dirty="0"/>
              <a:t>Literature</a:t>
            </a:r>
            <a:r>
              <a:rPr sz="2800" spc="-30" dirty="0"/>
              <a:t> </a:t>
            </a:r>
            <a:r>
              <a:rPr sz="2800" dirty="0"/>
              <a:t>Review:</a:t>
            </a:r>
            <a:endParaRPr sz="2800"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6</a:t>
            </a:fld>
            <a:endParaRPr spc="-25" dirty="0"/>
          </a:p>
        </p:txBody>
      </p:sp>
      <p:sp>
        <p:nvSpPr>
          <p:cNvPr id="3" name="object 3"/>
          <p:cNvSpPr txBox="1"/>
          <p:nvPr/>
        </p:nvSpPr>
        <p:spPr>
          <a:xfrm>
            <a:off x="570508" y="1540549"/>
            <a:ext cx="9524365" cy="4256550"/>
          </a:xfrm>
          <a:prstGeom prst="rect">
            <a:avLst/>
          </a:prstGeom>
        </p:spPr>
        <p:txBody>
          <a:bodyPr vert="horz" wrap="square" lIns="0" tIns="12700" rIns="0" bIns="0" rtlCol="0">
            <a:spAutoFit/>
          </a:bodyPr>
          <a:lstStyle/>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Sources:</a:t>
            </a:r>
            <a:endParaRPr lang="en-US" sz="2000" dirty="0">
              <a:latin typeface="Times New Roman" panose="02020603050405020304" pitchFamily="18" charset="0"/>
              <a:cs typeface="Times New Roman" panose="02020603050405020304" pitchFamily="18" charset="0"/>
            </a:endParaRPr>
          </a:p>
          <a:p>
            <a:pPr marL="536575" lvl="8" indent="-17780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Collected from dermatological datasets, Kaggle repositories, and web scraping of skincare forums.</a:t>
            </a:r>
          </a:p>
          <a:p>
            <a:pPr marL="536575" lvl="8" indent="-17780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Ethical guidelines followed to ensure images were license-free or anonymized.</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Image Characteristics:</a:t>
            </a:r>
            <a:endParaRPr lang="en-US" sz="2000" dirty="0">
              <a:latin typeface="Times New Roman" panose="02020603050405020304" pitchFamily="18" charset="0"/>
              <a:cs typeface="Times New Roman" panose="02020603050405020304" pitchFamily="18" charset="0"/>
            </a:endParaRPr>
          </a:p>
          <a:p>
            <a:pPr marL="536575" lvl="1" indent="-1778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High-resolution RGB images.</a:t>
            </a:r>
          </a:p>
          <a:p>
            <a:pPr marL="536575" lvl="1" indent="-1778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Labeled for three skin types: oily, dry, and normal.</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Size:</a:t>
            </a:r>
            <a:endParaRPr lang="en-US" sz="2000" dirty="0">
              <a:latin typeface="Times New Roman" panose="02020603050405020304" pitchFamily="18" charset="0"/>
              <a:cs typeface="Times New Roman" panose="02020603050405020304" pitchFamily="18" charset="0"/>
            </a:endParaRPr>
          </a:p>
          <a:p>
            <a:pPr marL="536575" lvl="1" indent="-1778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Approximately 4,500 initial images collected.</a:t>
            </a:r>
          </a:p>
          <a:p>
            <a:pPr marL="536575" lvl="1" indent="-1778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3,000 high-quality images retained after filtering</a:t>
            </a:r>
            <a:r>
              <a:rPr sz="1800" spc="-1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B81B69-513D-E7DE-DA7E-EFD08457983C}"/>
              </a:ext>
            </a:extLst>
          </p:cNvPr>
          <p:cNvSpPr>
            <a:spLocks noGrp="1"/>
          </p:cNvSpPr>
          <p:nvPr>
            <p:ph type="subTitle" idx="4"/>
          </p:nvPr>
        </p:nvSpPr>
        <p:spPr>
          <a:xfrm>
            <a:off x="838200" y="838200"/>
            <a:ext cx="10668000" cy="5909310"/>
          </a:xfrm>
        </p:spPr>
        <p:txBody>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Distribution:</a:t>
            </a:r>
            <a:endParaRPr lang="en-US" sz="2000" b="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Set:</a:t>
            </a:r>
            <a:r>
              <a:rPr lang="en-US" dirty="0">
                <a:latin typeface="Times New Roman" panose="02020603050405020304" pitchFamily="18" charset="0"/>
                <a:cs typeface="Times New Roman" panose="02020603050405020304" pitchFamily="18" charset="0"/>
              </a:rPr>
              <a:t> 80% (2,400 images)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Validation Set:</a:t>
            </a:r>
            <a:r>
              <a:rPr lang="en-US" dirty="0">
                <a:latin typeface="Times New Roman" panose="02020603050405020304" pitchFamily="18" charset="0"/>
                <a:cs typeface="Times New Roman" panose="02020603050405020304" pitchFamily="18" charset="0"/>
              </a:rPr>
              <a:t> 10% (300 images)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Test Set:</a:t>
            </a:r>
            <a:r>
              <a:rPr lang="en-US" dirty="0">
                <a:latin typeface="Times New Roman" panose="02020603050405020304" pitchFamily="18" charset="0"/>
                <a:cs typeface="Times New Roman" panose="02020603050405020304" pitchFamily="18" charset="0"/>
              </a:rPr>
              <a:t> 10% (300 images)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Stratified sampling used to maintain balanced skin type distribution.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Preprocessing Steps:</a:t>
            </a:r>
            <a:endParaRPr lang="en-US" sz="2000" b="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Resized to 224 × 224 pixels.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Normalized using ImageNet statistics.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Augmentation techniques applied (e.g., flips, rotations, brightness adjustments).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Limitations:</a:t>
            </a:r>
            <a:endParaRPr lang="en-US" sz="2000" b="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Focuses only on oily, dry, and normal skin types; sensitive and combination types excluded.</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Variability in image quality and lighting may affect accuracy.</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user-specific attributes included for personalization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5212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533400"/>
            <a:ext cx="10304227" cy="744345"/>
          </a:xfrm>
          <a:prstGeom prst="rect">
            <a:avLst/>
          </a:prstGeom>
        </p:spPr>
        <p:txBody>
          <a:bodyPr vert="horz" wrap="square" lIns="0" tIns="310426" rIns="0" bIns="0" rtlCol="0">
            <a:spAutoFit/>
          </a:bodyPr>
          <a:lstStyle/>
          <a:p>
            <a:pPr marL="273050">
              <a:lnSpc>
                <a:spcPct val="100000"/>
              </a:lnSpc>
              <a:spcBef>
                <a:spcPts val="100"/>
              </a:spcBef>
            </a:pPr>
            <a:r>
              <a:rPr sz="2800" dirty="0">
                <a:latin typeface="Times New Roman"/>
                <a:cs typeface="Times New Roman"/>
              </a:rPr>
              <a:t>Project</a:t>
            </a:r>
            <a:r>
              <a:rPr sz="2800" spc="-50" dirty="0">
                <a:latin typeface="Times New Roman"/>
                <a:cs typeface="Times New Roman"/>
              </a:rPr>
              <a:t> </a:t>
            </a:r>
            <a:r>
              <a:rPr sz="2800" dirty="0">
                <a:latin typeface="Times New Roman"/>
                <a:cs typeface="Times New Roman"/>
              </a:rPr>
              <a:t>Objectives</a:t>
            </a:r>
            <a:r>
              <a:rPr lang="en-US" sz="2800" dirty="0">
                <a:latin typeface="Times New Roman"/>
                <a:cs typeface="Times New Roman"/>
              </a:rPr>
              <a:t>:</a:t>
            </a:r>
            <a:endParaRPr sz="2800" spc="-25" dirty="0">
              <a:latin typeface="Times New Roman"/>
              <a:cs typeface="Times New Roman"/>
            </a:endParaRPr>
          </a:p>
        </p:txBody>
      </p:sp>
      <p:sp>
        <p:nvSpPr>
          <p:cNvPr id="3" name="object 3"/>
          <p:cNvSpPr txBox="1"/>
          <p:nvPr/>
        </p:nvSpPr>
        <p:spPr>
          <a:xfrm>
            <a:off x="836208" y="1548825"/>
            <a:ext cx="10303304" cy="4294893"/>
          </a:xfrm>
          <a:prstGeom prst="rect">
            <a:avLst/>
          </a:prstGeom>
        </p:spPr>
        <p:txBody>
          <a:bodyPr vert="horz" wrap="square" lIns="0" tIns="55244" rIns="0" bIns="0" numCol="2" rtlCol="0">
            <a:spAutoFit/>
          </a:bodyPr>
          <a:lstStyle/>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Skin Type Classification:</a:t>
            </a:r>
            <a:endParaRPr lang="en-US" sz="2000" dirty="0">
              <a:latin typeface="Times New Roman" panose="02020603050405020304" pitchFamily="18" charset="0"/>
              <a:cs typeface="Times New Roman" panose="02020603050405020304" pitchFamily="18" charset="0"/>
            </a:endParaRPr>
          </a:p>
          <a:p>
            <a:pPr marL="536575" indent="-2730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an automated system to accurately classify facial skin types into three categories: oily, dry, and normal using deep learning techniques.</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Utilization of Hybrid Models:</a:t>
            </a:r>
            <a:endParaRPr lang="en-US" sz="2000" dirty="0">
              <a:latin typeface="Times New Roman" panose="02020603050405020304" pitchFamily="18" charset="0"/>
              <a:cs typeface="Times New Roman" panose="02020603050405020304" pitchFamily="18" charset="0"/>
            </a:endParaRPr>
          </a:p>
          <a:p>
            <a:pPr marL="536575"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 a hybrid model combining ResNet-50 and EfficientNet-B0 architectures to leverage their strengths for improved classification accuracy and efficiency.</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Real-Time Recommendations:</a:t>
            </a:r>
            <a:endParaRPr lang="en-US" sz="2000" dirty="0">
              <a:latin typeface="Times New Roman" panose="02020603050405020304" pitchFamily="18" charset="0"/>
              <a:cs typeface="Times New Roman" panose="02020603050405020304" pitchFamily="18" charset="0"/>
            </a:endParaRPr>
          </a:p>
          <a:p>
            <a:pPr marL="442913" lvl="1" indent="-179388"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 web application that allows users to upload facial images and receive real-time skincare product recommendations based on their classified skin type.</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 Accessibility:</a:t>
            </a:r>
            <a:endParaRPr lang="en-US" sz="2000" dirty="0">
              <a:latin typeface="Times New Roman" panose="02020603050405020304" pitchFamily="18" charset="0"/>
              <a:cs typeface="Times New Roman" panose="02020603050405020304" pitchFamily="18" charset="0"/>
            </a:endParaRPr>
          </a:p>
          <a:p>
            <a:pPr marL="442913" lvl="1" indent="-179388"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the system to be user-friendly and accessible to individuals with varying levels of technical expertise, ensuring ease of use in everyday skincare decisions.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D7A878-BD9B-6DFD-26EC-5165F9C42C4D}"/>
              </a:ext>
            </a:extLst>
          </p:cNvPr>
          <p:cNvSpPr>
            <a:spLocks noGrp="1"/>
          </p:cNvSpPr>
          <p:nvPr>
            <p:ph type="body" idx="1"/>
          </p:nvPr>
        </p:nvSpPr>
        <p:spPr>
          <a:xfrm>
            <a:off x="533400" y="914400"/>
            <a:ext cx="10636859" cy="4789388"/>
          </a:xfrm>
        </p:spPr>
        <p:txBody>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Enhancing Skincare Awareness:</a:t>
            </a:r>
            <a:endParaRPr lang="en-US" b="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personalized, ingredient-based skincare advice to help users make informed decisions about their skincare routines, thereby promoting better skin health.</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Limitations Acknowledgment:</a:t>
            </a:r>
            <a:endParaRPr lang="en-US"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Acknowledge the limitations of the project, particularly the exclusion of sensitive and combination skin types, and ensure users understand the system is a supportive tool rather than a substitute for professional dermatological advice.</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Scalability:</a:t>
            </a:r>
            <a:endParaRPr lang="en-US" b="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Establish a framework for future enhancements, including the potential incorporation of additional skin types and more personalized recommendations based on user-specific data.</a:t>
            </a:r>
          </a:p>
          <a:p>
            <a:pPr marL="342900" indent="-34290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3031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541" y="658005"/>
            <a:ext cx="10304227" cy="841449"/>
          </a:xfrm>
          <a:prstGeom prst="rect">
            <a:avLst/>
          </a:prstGeom>
        </p:spPr>
        <p:txBody>
          <a:bodyPr vert="horz" wrap="square" lIns="0" tIns="284671" rIns="0" bIns="0" rtlCol="0">
            <a:spAutoFit/>
          </a:bodyPr>
          <a:lstStyle/>
          <a:p>
            <a:pPr marL="273050">
              <a:lnSpc>
                <a:spcPct val="100000"/>
              </a:lnSpc>
              <a:spcBef>
                <a:spcPts val="100"/>
              </a:spcBef>
            </a:pPr>
            <a:r>
              <a:rPr sz="3600" dirty="0"/>
              <a:t>Quantitative</a:t>
            </a:r>
            <a:r>
              <a:rPr sz="3600" spc="-195" dirty="0"/>
              <a:t> </a:t>
            </a:r>
            <a:r>
              <a:rPr sz="3600" spc="-10" dirty="0"/>
              <a:t>Analysis</a:t>
            </a:r>
            <a:r>
              <a:rPr lang="en-US" sz="3600" spc="-10" dirty="0"/>
              <a:t>:</a:t>
            </a:r>
            <a:endParaRPr sz="36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10</a:t>
            </a:fld>
            <a:endParaRPr spc="-25" dirty="0"/>
          </a:p>
        </p:txBody>
      </p:sp>
      <p:sp>
        <p:nvSpPr>
          <p:cNvPr id="3" name="object 3"/>
          <p:cNvSpPr txBox="1"/>
          <p:nvPr/>
        </p:nvSpPr>
        <p:spPr>
          <a:xfrm>
            <a:off x="939781" y="1623296"/>
            <a:ext cx="9880619" cy="4875694"/>
          </a:xfrm>
          <a:prstGeom prst="rect">
            <a:avLst/>
          </a:prstGeom>
        </p:spPr>
        <p:txBody>
          <a:bodyPr vert="horz" wrap="square" lIns="0" tIns="12700" rIns="0" bIns="0" rtlCol="0">
            <a:spAutoFit/>
          </a:bodyPr>
          <a:lstStyle/>
          <a:p>
            <a:pPr marL="153670" marR="5080" indent="-141605">
              <a:lnSpc>
                <a:spcPct val="100000"/>
              </a:lnSpc>
              <a:spcBef>
                <a:spcPts val="100"/>
              </a:spcBef>
              <a:buFont typeface="Arial"/>
              <a:buChar char="•"/>
              <a:tabLst>
                <a:tab pos="155575" algn="l"/>
              </a:tabLst>
            </a:pPr>
            <a:r>
              <a:rPr sz="1500" b="1" dirty="0">
                <a:latin typeface="Times New Roman"/>
                <a:cs typeface="Times New Roman"/>
              </a:rPr>
              <a:t>1.</a:t>
            </a:r>
            <a:r>
              <a:rPr sz="1500" b="1" spc="-55" dirty="0">
                <a:latin typeface="Times New Roman"/>
                <a:cs typeface="Times New Roman"/>
              </a:rPr>
              <a:t> </a:t>
            </a:r>
            <a:r>
              <a:rPr lang="en-US" sz="1500" spc="-45" dirty="0">
                <a:latin typeface="Times New Roman"/>
                <a:cs typeface="Times New Roman"/>
              </a:rPr>
              <a:t>Quantitative analysis involves the systematic examination of numerical data to evaluate the performance of the Skin Type Detection and Product Recommendation System. This analysis focuses on the accuracy, precision, recall, F1-score, and confusion matrix of the models employed in the project. The results are derived from the evaluation metrics applied to the test dataset, which consists of facial images labeled as oily, dry, or normal.</a:t>
            </a:r>
          </a:p>
          <a:p>
            <a:pPr marL="153670" marR="5080" indent="-141605">
              <a:lnSpc>
                <a:spcPct val="100000"/>
              </a:lnSpc>
              <a:spcBef>
                <a:spcPts val="100"/>
              </a:spcBef>
              <a:buFont typeface="Arial"/>
              <a:buChar char="•"/>
              <a:tabLst>
                <a:tab pos="155575" algn="l"/>
              </a:tabLst>
            </a:pPr>
            <a:r>
              <a:rPr sz="1800" b="1" i="1" dirty="0">
                <a:latin typeface="Times New Roman"/>
                <a:cs typeface="Times New Roman"/>
              </a:rPr>
              <a:t>2</a:t>
            </a:r>
            <a:r>
              <a:rPr lang="en-US" sz="1800" b="1" i="1" dirty="0">
                <a:latin typeface="Times New Roman"/>
                <a:cs typeface="Times New Roman"/>
              </a:rPr>
              <a:t> Dataset Overview</a:t>
            </a:r>
          </a:p>
          <a:p>
            <a:pPr marL="153670" marR="5080" indent="-141605">
              <a:lnSpc>
                <a:spcPct val="100000"/>
              </a:lnSpc>
              <a:spcBef>
                <a:spcPts val="100"/>
              </a:spcBef>
              <a:buFont typeface="Arial"/>
              <a:buChar char="•"/>
              <a:tabLst>
                <a:tab pos="155575" algn="l"/>
              </a:tabLst>
            </a:pPr>
            <a:r>
              <a:rPr lang="en-US" sz="1800" b="1" i="1" dirty="0">
                <a:latin typeface="Times New Roman"/>
                <a:cs typeface="Times New Roman"/>
              </a:rPr>
              <a:t>Total Images in Test Set</a:t>
            </a:r>
            <a:r>
              <a:rPr lang="en-US" sz="1800" dirty="0">
                <a:latin typeface="Times New Roman"/>
                <a:cs typeface="Times New Roman"/>
              </a:rPr>
              <a:t>: 300 images</a:t>
            </a:r>
          </a:p>
          <a:p>
            <a:pPr marL="153670" marR="5080" indent="-141605">
              <a:lnSpc>
                <a:spcPct val="100000"/>
              </a:lnSpc>
              <a:spcBef>
                <a:spcPts val="100"/>
              </a:spcBef>
              <a:buFont typeface="Arial"/>
              <a:buChar char="•"/>
              <a:tabLst>
                <a:tab pos="155575" algn="l"/>
              </a:tabLst>
            </a:pPr>
            <a:r>
              <a:rPr lang="en-US" sz="1800" b="1" i="1" dirty="0">
                <a:latin typeface="Times New Roman"/>
                <a:cs typeface="Times New Roman"/>
              </a:rPr>
              <a:t>Distribution:</a:t>
            </a:r>
          </a:p>
          <a:p>
            <a:pPr marL="358775" marR="5080" indent="-179388">
              <a:lnSpc>
                <a:spcPct val="100000"/>
              </a:lnSpc>
              <a:spcBef>
                <a:spcPts val="100"/>
              </a:spcBef>
              <a:buFont typeface="Arial"/>
              <a:buChar char="•"/>
              <a:tabLst>
                <a:tab pos="155575" algn="l"/>
              </a:tabLst>
            </a:pPr>
            <a:r>
              <a:rPr lang="en-US" sz="1800" b="1" dirty="0">
                <a:latin typeface="Times New Roman"/>
                <a:cs typeface="Times New Roman"/>
              </a:rPr>
              <a:t>Oily:</a:t>
            </a:r>
            <a:r>
              <a:rPr lang="en-US" sz="1800" b="1" i="1" dirty="0">
                <a:latin typeface="Times New Roman"/>
                <a:cs typeface="Times New Roman"/>
              </a:rPr>
              <a:t> </a:t>
            </a:r>
            <a:r>
              <a:rPr lang="en-US" sz="1800" dirty="0">
                <a:latin typeface="Times New Roman"/>
                <a:cs typeface="Times New Roman"/>
              </a:rPr>
              <a:t>100 images</a:t>
            </a:r>
          </a:p>
          <a:p>
            <a:pPr marL="358775" marR="5080" indent="-179388">
              <a:lnSpc>
                <a:spcPct val="100000"/>
              </a:lnSpc>
              <a:spcBef>
                <a:spcPts val="100"/>
              </a:spcBef>
              <a:buFont typeface="Arial"/>
              <a:buChar char="•"/>
              <a:tabLst>
                <a:tab pos="155575" algn="l"/>
              </a:tabLst>
            </a:pPr>
            <a:r>
              <a:rPr lang="en-US" sz="1800" b="1" dirty="0">
                <a:latin typeface="Times New Roman"/>
                <a:cs typeface="Times New Roman"/>
              </a:rPr>
              <a:t>Dry:</a:t>
            </a:r>
            <a:r>
              <a:rPr lang="en-US" sz="1800" b="1" i="1" dirty="0">
                <a:latin typeface="Times New Roman"/>
                <a:cs typeface="Times New Roman"/>
              </a:rPr>
              <a:t> </a:t>
            </a:r>
            <a:r>
              <a:rPr lang="en-US" sz="1800" dirty="0">
                <a:latin typeface="Times New Roman"/>
                <a:cs typeface="Times New Roman"/>
              </a:rPr>
              <a:t>100 images</a:t>
            </a:r>
          </a:p>
          <a:p>
            <a:pPr marL="358775" marR="5080" indent="-179388">
              <a:lnSpc>
                <a:spcPct val="100000"/>
              </a:lnSpc>
              <a:spcBef>
                <a:spcPts val="100"/>
              </a:spcBef>
              <a:buFont typeface="Arial"/>
              <a:buChar char="•"/>
              <a:tabLst>
                <a:tab pos="155575" algn="l"/>
              </a:tabLst>
            </a:pPr>
            <a:r>
              <a:rPr lang="en-US" sz="1800" b="1" dirty="0">
                <a:latin typeface="Times New Roman"/>
                <a:cs typeface="Times New Roman"/>
              </a:rPr>
              <a:t>Normal: </a:t>
            </a:r>
            <a:r>
              <a:rPr lang="en-US" sz="1800" dirty="0">
                <a:latin typeface="Times New Roman"/>
                <a:cs typeface="Times New Roman"/>
              </a:rPr>
              <a:t>100 images</a:t>
            </a:r>
            <a:r>
              <a:rPr sz="1500" spc="-10" dirty="0">
                <a:latin typeface="Times New Roman"/>
                <a:cs typeface="Times New Roman"/>
              </a:rPr>
              <a:t>.</a:t>
            </a:r>
            <a:endParaRPr sz="1500" dirty="0">
              <a:latin typeface="Times New Roman"/>
              <a:cs typeface="Times New Roman"/>
            </a:endParaRPr>
          </a:p>
          <a:p>
            <a:pPr marL="154305" indent="-136525">
              <a:lnSpc>
                <a:spcPct val="100000"/>
              </a:lnSpc>
              <a:spcBef>
                <a:spcPts val="735"/>
              </a:spcBef>
              <a:buFont typeface="Arial"/>
              <a:buChar char="•"/>
              <a:tabLst>
                <a:tab pos="154305" algn="l"/>
              </a:tabLst>
            </a:pPr>
            <a:r>
              <a:rPr lang="en-US" sz="1800" b="1" i="1" dirty="0">
                <a:latin typeface="Times New Roman"/>
                <a:cs typeface="Times New Roman"/>
              </a:rPr>
              <a:t>Model Performance Metrics</a:t>
            </a:r>
          </a:p>
          <a:p>
            <a:pPr marL="154305" indent="-136525">
              <a:lnSpc>
                <a:spcPct val="100000"/>
              </a:lnSpc>
              <a:spcBef>
                <a:spcPts val="735"/>
              </a:spcBef>
              <a:buFont typeface="Arial"/>
              <a:buChar char="•"/>
              <a:tabLst>
                <a:tab pos="154305" algn="l"/>
              </a:tabLst>
            </a:pPr>
            <a:r>
              <a:rPr lang="en-US" sz="1800" b="1" i="1" dirty="0">
                <a:latin typeface="Times New Roman"/>
                <a:cs typeface="Times New Roman"/>
              </a:rPr>
              <a:t>The performance of the models was evaluated using the following metrics:</a:t>
            </a:r>
          </a:p>
          <a:p>
            <a:pPr marL="358775" indent="-179388">
              <a:lnSpc>
                <a:spcPct val="100000"/>
              </a:lnSpc>
              <a:spcBef>
                <a:spcPts val="735"/>
              </a:spcBef>
              <a:buFont typeface="Arial"/>
              <a:buChar char="•"/>
              <a:tabLst>
                <a:tab pos="357188" algn="l"/>
              </a:tabLst>
            </a:pPr>
            <a:r>
              <a:rPr lang="en-US" sz="1800" b="1" i="1" dirty="0">
                <a:latin typeface="Times New Roman"/>
                <a:cs typeface="Times New Roman"/>
              </a:rPr>
              <a:t>Accuracy: </a:t>
            </a:r>
            <a:r>
              <a:rPr lang="en-US" sz="1800" dirty="0">
                <a:latin typeface="Times New Roman"/>
                <a:cs typeface="Times New Roman"/>
              </a:rPr>
              <a:t>The overall correctness of the model's predictions</a:t>
            </a:r>
            <a:r>
              <a:rPr lang="en-US" sz="1800" b="1" i="1" dirty="0">
                <a:latin typeface="Times New Roman"/>
                <a:cs typeface="Times New Roman"/>
              </a:rPr>
              <a:t>.</a:t>
            </a:r>
          </a:p>
          <a:p>
            <a:pPr marL="358775" indent="-179388">
              <a:lnSpc>
                <a:spcPct val="100000"/>
              </a:lnSpc>
              <a:spcBef>
                <a:spcPts val="735"/>
              </a:spcBef>
              <a:buFont typeface="Arial"/>
              <a:buChar char="•"/>
              <a:tabLst>
                <a:tab pos="357188" algn="l"/>
              </a:tabLst>
            </a:pPr>
            <a:r>
              <a:rPr lang="en-US" sz="1800" b="1" i="1" dirty="0">
                <a:latin typeface="Times New Roman"/>
                <a:cs typeface="Times New Roman"/>
              </a:rPr>
              <a:t>Precision: </a:t>
            </a:r>
            <a:r>
              <a:rPr lang="en-US" sz="1800" dirty="0">
                <a:latin typeface="Times New Roman"/>
                <a:cs typeface="Times New Roman"/>
              </a:rPr>
              <a:t>The ratio of true positive predictions to the total predicted positives.</a:t>
            </a:r>
          </a:p>
          <a:p>
            <a:pPr marL="358775" indent="-179388">
              <a:lnSpc>
                <a:spcPct val="100000"/>
              </a:lnSpc>
              <a:spcBef>
                <a:spcPts val="735"/>
              </a:spcBef>
              <a:buFont typeface="Arial"/>
              <a:buChar char="•"/>
              <a:tabLst>
                <a:tab pos="357188" algn="l"/>
              </a:tabLst>
            </a:pPr>
            <a:r>
              <a:rPr lang="en-US" sz="1800" b="1" i="1" dirty="0">
                <a:latin typeface="Times New Roman"/>
                <a:cs typeface="Times New Roman"/>
              </a:rPr>
              <a:t>Recall: </a:t>
            </a:r>
            <a:r>
              <a:rPr lang="en-US" sz="1800" dirty="0">
                <a:latin typeface="Times New Roman"/>
                <a:cs typeface="Times New Roman"/>
              </a:rPr>
              <a:t>The ratio of true positive predictions to the total actual positives</a:t>
            </a:r>
            <a:r>
              <a:rPr lang="en-US" sz="1800" b="1" i="1" dirty="0">
                <a:latin typeface="Times New Roman"/>
                <a:cs typeface="Times New Roman"/>
              </a:rPr>
              <a:t>.</a:t>
            </a:r>
          </a:p>
          <a:p>
            <a:pPr marL="358775" indent="-179388">
              <a:lnSpc>
                <a:spcPct val="100000"/>
              </a:lnSpc>
              <a:spcBef>
                <a:spcPts val="735"/>
              </a:spcBef>
              <a:buFont typeface="Arial"/>
              <a:buChar char="•"/>
              <a:tabLst>
                <a:tab pos="357188" algn="l"/>
              </a:tabLst>
            </a:pPr>
            <a:r>
              <a:rPr lang="en-US" sz="1800" b="1" i="1" dirty="0">
                <a:latin typeface="Times New Roman"/>
                <a:cs typeface="Times New Roman"/>
              </a:rPr>
              <a:t>F1-Score: </a:t>
            </a:r>
            <a:r>
              <a:rPr lang="en-US" sz="1800" dirty="0">
                <a:latin typeface="Times New Roman"/>
                <a:cs typeface="Times New Roman"/>
              </a:rPr>
              <a:t>The harmonic mean of precision and recall, particularly useful for imbalanced datasets.</a:t>
            </a:r>
            <a:endParaRPr sz="15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F62A1E7-4575-CDA7-9E77-C7EEA41A5AE1}"/>
              </a:ext>
            </a:extLst>
          </p:cNvPr>
          <p:cNvSpPr>
            <a:spLocks noChangeArrowheads="1"/>
          </p:cNvSpPr>
          <p:nvPr/>
        </p:nvSpPr>
        <p:spPr bwMode="auto">
          <a:xfrm>
            <a:off x="838200" y="1000015"/>
            <a:ext cx="10304227" cy="904985"/>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800" b="1" i="1" u="none" strike="noStrike" cap="none" normalizeH="0" baseline="0" dirty="0">
                <a:ln>
                  <a:noFill/>
                </a:ln>
                <a:solidFill>
                  <a:schemeClr val="tx1"/>
                </a:solidFill>
                <a:effectLst/>
                <a:latin typeface="Times New Roman"/>
                <a:ea typeface="+mj-ea"/>
                <a:cs typeface="Times New Roman"/>
              </a:rPr>
              <a:t>Results Summary</a:t>
            </a:r>
          </a:p>
          <a:p>
            <a:pPr marL="0" marR="0" lvl="0" indent="0" defTabSz="914400" rtl="0" eaLnBrk="0" fontAlgn="base" latinLnBrk="0" hangingPunct="0">
              <a:spcBef>
                <a:spcPct val="0"/>
              </a:spcBef>
              <a:spcAft>
                <a:spcPts val="600"/>
              </a:spcAft>
              <a:buClrTx/>
              <a:buSzTx/>
              <a:buFontTx/>
              <a:buNone/>
              <a:tabLst/>
            </a:pPr>
            <a:endParaRPr kumimoji="0" lang="en-US" altLang="en-US" sz="2800" b="1" i="1" u="none" strike="noStrike" cap="none" normalizeH="0" baseline="0" dirty="0">
              <a:ln>
                <a:noFill/>
              </a:ln>
              <a:solidFill>
                <a:schemeClr val="tx1"/>
              </a:solidFill>
              <a:effectLst/>
              <a:latin typeface="Times New Roman"/>
              <a:ea typeface="+mj-ea"/>
              <a:cs typeface="Times New Roman"/>
            </a:endParaRPr>
          </a:p>
        </p:txBody>
      </p:sp>
      <p:sp>
        <p:nvSpPr>
          <p:cNvPr id="3" name="object 3" hidden="1"/>
          <p:cNvSpPr txBox="1">
            <a:spLocks noGrp="1"/>
          </p:cNvSpPr>
          <p:nvPr>
            <p:ph type="sldNum" sz="quarter" idx="7"/>
          </p:nvPr>
        </p:nvSpPr>
        <p:spPr>
          <a:xfrm>
            <a:off x="11139512" y="6481635"/>
            <a:ext cx="179704" cy="128240"/>
          </a:xfrm>
          <a:prstGeom prst="rect">
            <a:avLst/>
          </a:prstGeom>
        </p:spPr>
        <p:txBody>
          <a:bodyPr vert="horz" wrap="square" lIns="0" tIns="0" rIns="0" bIns="0" rtlCol="0">
            <a:spAutoFit/>
          </a:bodyPr>
          <a:lstStyle/>
          <a:p>
            <a:pPr marL="12700">
              <a:lnSpc>
                <a:spcPts val="955"/>
              </a:lnSpc>
              <a:spcAft>
                <a:spcPts val="600"/>
              </a:spcAft>
            </a:pPr>
            <a:fld id="{81D60167-4931-47E6-BA6A-407CBD079E47}" type="slidenum">
              <a:rPr lang="en-US" spc="-25" smtClean="0"/>
              <a:pPr marL="12700">
                <a:lnSpc>
                  <a:spcPts val="955"/>
                </a:lnSpc>
                <a:spcAft>
                  <a:spcPts val="600"/>
                </a:spcAft>
              </a:pPr>
              <a:t>11</a:t>
            </a:fld>
            <a:endParaRPr lang="en-US" spc="-25"/>
          </a:p>
        </p:txBody>
      </p:sp>
      <p:graphicFrame>
        <p:nvGraphicFramePr>
          <p:cNvPr id="4" name="Table 3">
            <a:extLst>
              <a:ext uri="{FF2B5EF4-FFF2-40B4-BE49-F238E27FC236}">
                <a16:creationId xmlns:a16="http://schemas.microsoft.com/office/drawing/2014/main" id="{456EDFE3-4AF2-AAE1-C4ED-9110D8EDF929}"/>
              </a:ext>
            </a:extLst>
          </p:cNvPr>
          <p:cNvGraphicFramePr>
            <a:graphicFrameLocks noGrp="1"/>
          </p:cNvGraphicFramePr>
          <p:nvPr>
            <p:extLst>
              <p:ext uri="{D42A27DB-BD31-4B8C-83A1-F6EECF244321}">
                <p14:modId xmlns:p14="http://schemas.microsoft.com/office/powerpoint/2010/main" val="314195564"/>
              </p:ext>
            </p:extLst>
          </p:nvPr>
        </p:nvGraphicFramePr>
        <p:xfrm>
          <a:off x="838200" y="1905000"/>
          <a:ext cx="10744203" cy="4267200"/>
        </p:xfrm>
        <a:graphic>
          <a:graphicData uri="http://schemas.openxmlformats.org/drawingml/2006/table">
            <a:tbl>
              <a:tblPr firstRow="1" bandRow="1">
                <a:solidFill>
                  <a:schemeClr val="bg1"/>
                </a:solidFill>
              </a:tblPr>
              <a:tblGrid>
                <a:gridCol w="2685642">
                  <a:extLst>
                    <a:ext uri="{9D8B030D-6E8A-4147-A177-3AD203B41FA5}">
                      <a16:colId xmlns:a16="http://schemas.microsoft.com/office/drawing/2014/main" val="2331900760"/>
                    </a:ext>
                  </a:extLst>
                </a:gridCol>
                <a:gridCol w="2284232">
                  <a:extLst>
                    <a:ext uri="{9D8B030D-6E8A-4147-A177-3AD203B41FA5}">
                      <a16:colId xmlns:a16="http://schemas.microsoft.com/office/drawing/2014/main" val="3875748163"/>
                    </a:ext>
                  </a:extLst>
                </a:gridCol>
                <a:gridCol w="2284232">
                  <a:extLst>
                    <a:ext uri="{9D8B030D-6E8A-4147-A177-3AD203B41FA5}">
                      <a16:colId xmlns:a16="http://schemas.microsoft.com/office/drawing/2014/main" val="2392363006"/>
                    </a:ext>
                  </a:extLst>
                </a:gridCol>
                <a:gridCol w="1777365">
                  <a:extLst>
                    <a:ext uri="{9D8B030D-6E8A-4147-A177-3AD203B41FA5}">
                      <a16:colId xmlns:a16="http://schemas.microsoft.com/office/drawing/2014/main" val="1818969227"/>
                    </a:ext>
                  </a:extLst>
                </a:gridCol>
                <a:gridCol w="1712732">
                  <a:extLst>
                    <a:ext uri="{9D8B030D-6E8A-4147-A177-3AD203B41FA5}">
                      <a16:colId xmlns:a16="http://schemas.microsoft.com/office/drawing/2014/main" val="2594877320"/>
                    </a:ext>
                  </a:extLst>
                </a:gridCol>
              </a:tblGrid>
              <a:tr h="1419046">
                <a:tc>
                  <a:txBody>
                    <a:bodyPr/>
                    <a:lstStyle/>
                    <a:p>
                      <a:pPr>
                        <a:buNone/>
                      </a:pPr>
                      <a:r>
                        <a:rPr lang="en-US" sz="1500" b="0" cap="none" spc="0">
                          <a:solidFill>
                            <a:schemeClr val="bg1"/>
                          </a:solidFill>
                          <a:effectLst/>
                        </a:rPr>
                        <a:t>Model</a:t>
                      </a:r>
                    </a:p>
                  </a:txBody>
                  <a:tcPr marL="125737" marR="104781" marT="96721" marB="9672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effectLst/>
                        </a:rPr>
                        <a:t>Accuracy (%)</a:t>
                      </a:r>
                    </a:p>
                  </a:txBody>
                  <a:tcPr marL="125737" marR="104781" marT="96721" marB="9672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effectLst/>
                        </a:rPr>
                        <a:t>Precision (%)</a:t>
                      </a:r>
                    </a:p>
                  </a:txBody>
                  <a:tcPr marL="125737" marR="104781" marT="96721" marB="9672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effectLst/>
                        </a:rPr>
                        <a:t>Recall (%)</a:t>
                      </a:r>
                    </a:p>
                  </a:txBody>
                  <a:tcPr marL="125737" marR="104781" marT="96721" marB="9672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effectLst/>
                        </a:rPr>
                        <a:t>F1-Score (%)</a:t>
                      </a:r>
                    </a:p>
                  </a:txBody>
                  <a:tcPr marL="125737" marR="104781" marT="96721" marB="9672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107754607"/>
                  </a:ext>
                </a:extLst>
              </a:tr>
              <a:tr h="714556">
                <a:tc>
                  <a:txBody>
                    <a:bodyPr/>
                    <a:lstStyle/>
                    <a:p>
                      <a:pPr>
                        <a:buNone/>
                      </a:pPr>
                      <a:r>
                        <a:rPr lang="en-US" sz="1500" cap="none" spc="0">
                          <a:solidFill>
                            <a:schemeClr val="tx1"/>
                          </a:solidFill>
                          <a:effectLst/>
                        </a:rPr>
                        <a:t>ResNet-50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500" cap="none" spc="0">
                          <a:solidFill>
                            <a:schemeClr val="tx1"/>
                          </a:solidFill>
                          <a:effectLst/>
                        </a:rPr>
                        <a:t>92.0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500" cap="none" spc="0">
                          <a:solidFill>
                            <a:schemeClr val="tx1"/>
                          </a:solidFill>
                          <a:effectLst/>
                        </a:rPr>
                        <a:t>91.7</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500" cap="none" spc="0">
                          <a:solidFill>
                            <a:schemeClr val="tx1"/>
                          </a:solidFill>
                          <a:effectLst/>
                        </a:rPr>
                        <a:t>91.5</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500" cap="none" spc="0">
                          <a:solidFill>
                            <a:schemeClr val="tx1"/>
                          </a:solidFill>
                          <a:effectLst/>
                        </a:rPr>
                        <a:t>91.4</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24180966"/>
                  </a:ext>
                </a:extLst>
              </a:tr>
              <a:tr h="1066799">
                <a:tc>
                  <a:txBody>
                    <a:bodyPr/>
                    <a:lstStyle/>
                    <a:p>
                      <a:pPr>
                        <a:buNone/>
                      </a:pPr>
                      <a:r>
                        <a:rPr lang="en-US" sz="1500" cap="none" spc="0" dirty="0">
                          <a:solidFill>
                            <a:schemeClr val="tx1"/>
                          </a:solidFill>
                          <a:effectLst/>
                        </a:rPr>
                        <a:t>EfficientNet-B0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500" cap="none" spc="0" dirty="0">
                          <a:solidFill>
                            <a:schemeClr val="tx1"/>
                          </a:solidFill>
                          <a:effectLst/>
                        </a:rPr>
                        <a:t>93.0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effectLst/>
                        </a:rPr>
                        <a:t>92.5</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effectLst/>
                        </a:rPr>
                        <a:t>92.3</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effectLst/>
                        </a:rPr>
                        <a:t>92.1</a:t>
                      </a:r>
                    </a:p>
                  </a:txBody>
                  <a:tcPr marL="125737" marR="104781" marT="96721" marB="96721"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21677073"/>
                  </a:ext>
                </a:extLst>
              </a:tr>
              <a:tr h="1066799">
                <a:tc>
                  <a:txBody>
                    <a:bodyPr/>
                    <a:lstStyle/>
                    <a:p>
                      <a:pPr>
                        <a:buNone/>
                      </a:pPr>
                      <a:r>
                        <a:rPr lang="en-US" sz="1500" cap="none" spc="0" dirty="0">
                          <a:solidFill>
                            <a:schemeClr val="tx1"/>
                          </a:solidFill>
                          <a:effectLst/>
                        </a:rPr>
                        <a:t>Hybrid Ensemble</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effectLst/>
                        </a:rPr>
                        <a:t>94.0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effectLst/>
                        </a:rPr>
                        <a:t>94.2</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effectLst/>
                        </a:rPr>
                        <a:t>93.8</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dirty="0">
                          <a:solidFill>
                            <a:schemeClr val="tx1"/>
                          </a:solidFill>
                          <a:effectLst/>
                        </a:rPr>
                        <a:t>94.0</a:t>
                      </a:r>
                    </a:p>
                  </a:txBody>
                  <a:tcPr marL="125737" marR="104781" marT="96721" marB="96721"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3006688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66C3A66F-701C-3A4D-54F4-5A373828DF33}"/>
              </a:ext>
            </a:extLst>
          </p:cNvPr>
          <p:cNvSpPr>
            <a:spLocks noGrp="1" noChangeArrowheads="1"/>
          </p:cNvSpPr>
          <p:nvPr>
            <p:ph sz="half" idx="2"/>
          </p:nvPr>
        </p:nvSpPr>
        <p:spPr bwMode="auto">
          <a:xfrm>
            <a:off x="457200" y="762000"/>
            <a:ext cx="5638800" cy="5650526"/>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101568" numCol="1" anchorCtr="0" compatLnSpc="1">
            <a:prstTxWarp prst="textNoShape">
              <a:avLst/>
            </a:prstTxWarp>
            <a:norm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rPr>
              <a:t> </a:t>
            </a:r>
            <a:r>
              <a:rPr kumimoji="0" lang="en-US" altLang="en-US" sz="2800" b="1" i="1" u="none" strike="noStrike" cap="none" normalizeH="0" baseline="0" dirty="0">
                <a:ln>
                  <a:noFill/>
                </a:ln>
                <a:effectLst/>
                <a:latin typeface="Times New Roman" panose="02020603050405020304" pitchFamily="18" charset="0"/>
                <a:cs typeface="Times New Roman" panose="02020603050405020304" pitchFamily="18" charset="0"/>
              </a:rPr>
              <a:t>Confusion Matrix Analysis:</a:t>
            </a:r>
          </a:p>
          <a:p>
            <a:pPr marL="0" marR="0" lvl="0" indent="0" algn="just"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The confusion matrix provides insights into the classification performance of the hybrid model, detailing how many instances of each skin type were correctly or incorrectly classified.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True Positives (TP):</a:t>
            </a:r>
            <a:endParaRPr lang="en-US" sz="2000" b="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Oily: 85</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Dry: 90</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 88</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False Positives (FP):</a:t>
            </a:r>
            <a:endParaRPr lang="en-US" sz="2000" b="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Oily: 18 (10 + 5 + 3)</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Dry: 15 (8 + 7)</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 12 (5 + 2)</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False Negatives (FN):</a:t>
            </a:r>
            <a:endParaRPr lang="en-US" sz="2000" b="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Oily: 15 (10 + 5)</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Dry: 8 (7 + 1)</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 12 (5 + 2)</a:t>
            </a:r>
          </a:p>
          <a:p>
            <a:pPr marL="0" marR="0" lvl="0" indent="0" algn="just"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4B91A82C-9AC9-0E0E-DEDB-92453207F020}"/>
              </a:ext>
            </a:extLst>
          </p:cNvPr>
          <p:cNvGraphicFramePr>
            <a:graphicFrameLocks noGrp="1"/>
          </p:cNvGraphicFramePr>
          <p:nvPr>
            <p:extLst>
              <p:ext uri="{D42A27DB-BD31-4B8C-83A1-F6EECF244321}">
                <p14:modId xmlns:p14="http://schemas.microsoft.com/office/powerpoint/2010/main" val="24885988"/>
              </p:ext>
            </p:extLst>
          </p:nvPr>
        </p:nvGraphicFramePr>
        <p:xfrm>
          <a:off x="6278880" y="2252008"/>
          <a:ext cx="5303523" cy="3176947"/>
        </p:xfrm>
        <a:graphic>
          <a:graphicData uri="http://schemas.openxmlformats.org/drawingml/2006/table">
            <a:tbl>
              <a:tblPr firstRow="1" bandRow="1">
                <a:solidFill>
                  <a:schemeClr val="bg1"/>
                </a:solidFill>
              </a:tblPr>
              <a:tblGrid>
                <a:gridCol w="1772613">
                  <a:extLst>
                    <a:ext uri="{9D8B030D-6E8A-4147-A177-3AD203B41FA5}">
                      <a16:colId xmlns:a16="http://schemas.microsoft.com/office/drawing/2014/main" val="3782018740"/>
                    </a:ext>
                  </a:extLst>
                </a:gridCol>
                <a:gridCol w="1049023">
                  <a:extLst>
                    <a:ext uri="{9D8B030D-6E8A-4147-A177-3AD203B41FA5}">
                      <a16:colId xmlns:a16="http://schemas.microsoft.com/office/drawing/2014/main" val="1326279124"/>
                    </a:ext>
                  </a:extLst>
                </a:gridCol>
                <a:gridCol w="999747">
                  <a:extLst>
                    <a:ext uri="{9D8B030D-6E8A-4147-A177-3AD203B41FA5}">
                      <a16:colId xmlns:a16="http://schemas.microsoft.com/office/drawing/2014/main" val="4119004585"/>
                    </a:ext>
                  </a:extLst>
                </a:gridCol>
                <a:gridCol w="1482140">
                  <a:extLst>
                    <a:ext uri="{9D8B030D-6E8A-4147-A177-3AD203B41FA5}">
                      <a16:colId xmlns:a16="http://schemas.microsoft.com/office/drawing/2014/main" val="441028713"/>
                    </a:ext>
                  </a:extLst>
                </a:gridCol>
              </a:tblGrid>
              <a:tr h="1055662">
                <a:tc>
                  <a:txBody>
                    <a:bodyPr/>
                    <a:lstStyle/>
                    <a:p>
                      <a:pPr>
                        <a:buNone/>
                      </a:pPr>
                      <a:r>
                        <a:rPr lang="en-US" sz="2300" b="0" cap="none" spc="0">
                          <a:solidFill>
                            <a:schemeClr val="bg1"/>
                          </a:solidFill>
                          <a:effectLst/>
                        </a:rPr>
                        <a:t>Actual \ Predicted</a:t>
                      </a:r>
                    </a:p>
                  </a:txBody>
                  <a:tcPr marL="194202" marR="161835" marT="149386" marB="149386"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2300" b="0" cap="none" spc="0">
                          <a:solidFill>
                            <a:schemeClr val="bg1"/>
                          </a:solidFill>
                          <a:effectLst/>
                        </a:rPr>
                        <a:t>Oily</a:t>
                      </a:r>
                    </a:p>
                  </a:txBody>
                  <a:tcPr marL="194202" marR="161835" marT="149386" marB="149386"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2300" b="0" cap="none" spc="0">
                          <a:solidFill>
                            <a:schemeClr val="bg1"/>
                          </a:solidFill>
                          <a:effectLst/>
                        </a:rPr>
                        <a:t>Dry</a:t>
                      </a:r>
                    </a:p>
                  </a:txBody>
                  <a:tcPr marL="194202" marR="161835" marT="149386" marB="149386"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2300" b="0" cap="none" spc="0">
                          <a:solidFill>
                            <a:schemeClr val="bg1"/>
                          </a:solidFill>
                          <a:effectLst/>
                        </a:rPr>
                        <a:t>Normal</a:t>
                      </a:r>
                    </a:p>
                  </a:txBody>
                  <a:tcPr marL="194202" marR="161835" marT="149386" marB="149386"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231636660"/>
                  </a:ext>
                </a:extLst>
              </a:tr>
              <a:tr h="707095">
                <a:tc>
                  <a:txBody>
                    <a:bodyPr/>
                    <a:lstStyle/>
                    <a:p>
                      <a:pPr>
                        <a:buNone/>
                      </a:pPr>
                      <a:r>
                        <a:rPr lang="en-US" sz="2300" b="1" cap="none" spc="0">
                          <a:solidFill>
                            <a:schemeClr val="tx1"/>
                          </a:solidFill>
                          <a:effectLst/>
                        </a:rPr>
                        <a:t>Oily</a:t>
                      </a:r>
                      <a:endParaRPr lang="en-US" sz="2300" cap="none" spc="0">
                        <a:solidFill>
                          <a:schemeClr val="tx1"/>
                        </a:solidFill>
                        <a:effectLst/>
                      </a:endParaRPr>
                    </a:p>
                  </a:txBody>
                  <a:tcPr marL="194202" marR="161835" marT="149386" marB="149386"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2300" cap="none" spc="0">
                          <a:solidFill>
                            <a:schemeClr val="tx1"/>
                          </a:solidFill>
                          <a:effectLst/>
                        </a:rPr>
                        <a:t>85</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2300" cap="none" spc="0">
                          <a:solidFill>
                            <a:schemeClr val="tx1"/>
                          </a:solidFill>
                          <a:effectLst/>
                        </a:rPr>
                        <a:t>10</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2300" cap="none" spc="0">
                          <a:solidFill>
                            <a:schemeClr val="tx1"/>
                          </a:solidFill>
                          <a:effectLst/>
                        </a:rPr>
                        <a:t>5</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586714253"/>
                  </a:ext>
                </a:extLst>
              </a:tr>
              <a:tr h="707095">
                <a:tc>
                  <a:txBody>
                    <a:bodyPr/>
                    <a:lstStyle/>
                    <a:p>
                      <a:pPr>
                        <a:buNone/>
                      </a:pPr>
                      <a:r>
                        <a:rPr lang="en-US" sz="2300" b="1" cap="none" spc="0">
                          <a:solidFill>
                            <a:schemeClr val="tx1"/>
                          </a:solidFill>
                          <a:effectLst/>
                        </a:rPr>
                        <a:t>Dry</a:t>
                      </a:r>
                      <a:endParaRPr lang="en-US" sz="2300" cap="none" spc="0">
                        <a:solidFill>
                          <a:schemeClr val="tx1"/>
                        </a:solidFill>
                        <a:effectLst/>
                      </a:endParaRPr>
                    </a:p>
                  </a:txBody>
                  <a:tcPr marL="194202" marR="161835" marT="149386" marB="14938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2300" cap="none" spc="0">
                          <a:solidFill>
                            <a:schemeClr val="tx1"/>
                          </a:solidFill>
                          <a:effectLst/>
                        </a:rPr>
                        <a:t>8</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2300" cap="none" spc="0">
                          <a:solidFill>
                            <a:schemeClr val="tx1"/>
                          </a:solidFill>
                          <a:effectLst/>
                        </a:rPr>
                        <a:t>90</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2300" cap="none" spc="0">
                          <a:solidFill>
                            <a:schemeClr val="tx1"/>
                          </a:solidFill>
                          <a:effectLst/>
                        </a:rPr>
                        <a:t>2</a:t>
                      </a:r>
                    </a:p>
                  </a:txBody>
                  <a:tcPr marL="194202" marR="161835" marT="149386" marB="149386"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484883388"/>
                  </a:ext>
                </a:extLst>
              </a:tr>
              <a:tr h="707095">
                <a:tc>
                  <a:txBody>
                    <a:bodyPr/>
                    <a:lstStyle/>
                    <a:p>
                      <a:pPr>
                        <a:buNone/>
                      </a:pPr>
                      <a:r>
                        <a:rPr lang="en-US" sz="2300" b="1" cap="none" spc="0">
                          <a:solidFill>
                            <a:schemeClr val="tx1"/>
                          </a:solidFill>
                          <a:effectLst/>
                        </a:rPr>
                        <a:t>Normal</a:t>
                      </a:r>
                      <a:endParaRPr lang="en-US" sz="2300" cap="none" spc="0">
                        <a:solidFill>
                          <a:schemeClr val="tx1"/>
                        </a:solidFill>
                        <a:effectLst/>
                      </a:endParaRPr>
                    </a:p>
                  </a:txBody>
                  <a:tcPr marL="194202" marR="161835" marT="149386" marB="149386"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2300" cap="none" spc="0">
                          <a:solidFill>
                            <a:schemeClr val="tx1"/>
                          </a:solidFill>
                          <a:effectLst/>
                        </a:rPr>
                        <a:t>7</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2300" cap="none" spc="0">
                          <a:solidFill>
                            <a:schemeClr val="tx1"/>
                          </a:solidFill>
                          <a:effectLst/>
                        </a:rPr>
                        <a:t>5</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buNone/>
                      </a:pPr>
                      <a:r>
                        <a:rPr lang="en-US" sz="2300" cap="none" spc="0">
                          <a:solidFill>
                            <a:schemeClr val="tx1"/>
                          </a:solidFill>
                          <a:effectLst/>
                        </a:rPr>
                        <a:t>88</a:t>
                      </a:r>
                    </a:p>
                  </a:txBody>
                  <a:tcPr marL="194202" marR="161835" marT="149386" marB="149386"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687860451"/>
                  </a:ext>
                </a:extLst>
              </a:tr>
            </a:tbl>
          </a:graphicData>
        </a:graphic>
      </p:graphicFrame>
    </p:spTree>
    <p:extLst>
      <p:ext uri="{BB962C8B-B14F-4D97-AF65-F5344CB8AC3E}">
        <p14:creationId xmlns:p14="http://schemas.microsoft.com/office/powerpoint/2010/main" val="270249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541" y="658005"/>
            <a:ext cx="10304227" cy="744345"/>
          </a:xfrm>
          <a:prstGeom prst="rect">
            <a:avLst/>
          </a:prstGeom>
        </p:spPr>
        <p:txBody>
          <a:bodyPr vert="horz" wrap="square" lIns="0" tIns="310426" rIns="0" bIns="0" rtlCol="0">
            <a:spAutoFit/>
          </a:bodyPr>
          <a:lstStyle/>
          <a:p>
            <a:pPr marL="273050">
              <a:lnSpc>
                <a:spcPct val="100000"/>
              </a:lnSpc>
              <a:spcBef>
                <a:spcPts val="100"/>
              </a:spcBef>
            </a:pPr>
            <a:r>
              <a:rPr sz="2800" dirty="0"/>
              <a:t>Results</a:t>
            </a:r>
            <a:r>
              <a:rPr sz="2800" spc="-50" dirty="0"/>
              <a:t> </a:t>
            </a:r>
            <a:r>
              <a:rPr sz="2800" dirty="0"/>
              <a:t>and</a:t>
            </a:r>
            <a:r>
              <a:rPr sz="2800" spc="-40" dirty="0"/>
              <a:t> </a:t>
            </a:r>
            <a:r>
              <a:rPr sz="2800" spc="-10" dirty="0"/>
              <a:t>Discussion</a:t>
            </a:r>
            <a:r>
              <a:rPr lang="en-US" sz="2800" spc="-10" dirty="0"/>
              <a:t>:</a:t>
            </a:r>
            <a:endParaRPr sz="2800"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13</a:t>
            </a:fld>
            <a:endParaRPr spc="-25" dirty="0"/>
          </a:p>
        </p:txBody>
      </p:sp>
      <p:sp>
        <p:nvSpPr>
          <p:cNvPr id="4" name="object 4"/>
          <p:cNvSpPr txBox="1"/>
          <p:nvPr/>
        </p:nvSpPr>
        <p:spPr>
          <a:xfrm>
            <a:off x="831192" y="1805230"/>
            <a:ext cx="9913008" cy="965007"/>
          </a:xfrm>
          <a:prstGeom prst="rect">
            <a:avLst/>
          </a:prstGeom>
        </p:spPr>
        <p:txBody>
          <a:bodyPr vert="horz" wrap="square" lIns="0" tIns="61594" rIns="0" bIns="0" rtlCol="0">
            <a:spAutoFit/>
          </a:bodyPr>
          <a:lstStyle/>
          <a:p>
            <a:pPr marL="92710">
              <a:lnSpc>
                <a:spcPct val="100000"/>
              </a:lnSpc>
              <a:spcBef>
                <a:spcPts val="484"/>
              </a:spcBef>
            </a:pPr>
            <a:r>
              <a:rPr sz="2200" b="1" dirty="0">
                <a:latin typeface="Times New Roman"/>
                <a:cs typeface="Times New Roman"/>
              </a:rPr>
              <a:t>Key</a:t>
            </a:r>
            <a:r>
              <a:rPr sz="2200" b="1" spc="-35" dirty="0">
                <a:latin typeface="Times New Roman"/>
                <a:cs typeface="Times New Roman"/>
              </a:rPr>
              <a:t> </a:t>
            </a:r>
            <a:r>
              <a:rPr sz="2200" b="1" spc="-10" dirty="0">
                <a:latin typeface="Times New Roman"/>
                <a:cs typeface="Times New Roman"/>
              </a:rPr>
              <a:t>Findings</a:t>
            </a:r>
            <a:r>
              <a:rPr sz="2200" spc="-10" dirty="0">
                <a:latin typeface="Times New Roman"/>
                <a:cs typeface="Times New Roman"/>
              </a:rPr>
              <a:t>:</a:t>
            </a:r>
            <a:endParaRPr sz="2200" dirty="0">
              <a:latin typeface="Times New Roman"/>
              <a:cs typeface="Times New Roman"/>
            </a:endParaRPr>
          </a:p>
          <a:p>
            <a:pPr marL="92710" marR="5080" indent="-80645" algn="just">
              <a:lnSpc>
                <a:spcPts val="1939"/>
              </a:lnSpc>
              <a:spcBef>
                <a:spcPts val="630"/>
              </a:spcBef>
              <a:buFontTx/>
              <a:buChar char="•"/>
              <a:tabLst>
                <a:tab pos="92710" algn="l"/>
                <a:tab pos="149225" algn="l"/>
              </a:tabLst>
            </a:pPr>
            <a:r>
              <a:rPr sz="1800" b="1" dirty="0">
                <a:latin typeface="Times New Roman"/>
                <a:cs typeface="Times New Roman"/>
              </a:rPr>
              <a:t>	</a:t>
            </a:r>
            <a:r>
              <a:rPr sz="2000" b="1" spc="-10" dirty="0">
                <a:latin typeface="Times New Roman"/>
                <a:cs typeface="Times New Roman"/>
              </a:rPr>
              <a:t>Customer</a:t>
            </a:r>
            <a:r>
              <a:rPr lang="en-US" sz="2000" b="1" spc="-90" dirty="0">
                <a:latin typeface="Times New Roman"/>
                <a:cs typeface="Times New Roman"/>
              </a:rPr>
              <a:t> </a:t>
            </a:r>
            <a:r>
              <a:rPr sz="2000" b="1" spc="-10" dirty="0">
                <a:latin typeface="Times New Roman"/>
                <a:cs typeface="Times New Roman"/>
              </a:rPr>
              <a:t>Segmentation</a:t>
            </a:r>
            <a:r>
              <a:rPr sz="2000" spc="-10" dirty="0">
                <a:latin typeface="Times New Roman"/>
                <a:cs typeface="Times New Roman"/>
              </a:rPr>
              <a:t>:</a:t>
            </a:r>
            <a:r>
              <a:rPr sz="2000" spc="-105" dirty="0">
                <a:latin typeface="Times New Roman"/>
                <a:cs typeface="Times New Roman"/>
              </a:rPr>
              <a:t> </a:t>
            </a:r>
            <a:r>
              <a:rPr sz="1800" dirty="0">
                <a:latin typeface="Times New Roman"/>
                <a:cs typeface="Times New Roman"/>
              </a:rPr>
              <a:t>AI</a:t>
            </a:r>
            <a:r>
              <a:rPr sz="1800" spc="-35" dirty="0">
                <a:latin typeface="Times New Roman"/>
                <a:cs typeface="Times New Roman"/>
              </a:rPr>
              <a:t> </a:t>
            </a:r>
            <a:r>
              <a:rPr sz="1800" dirty="0">
                <a:latin typeface="Times New Roman"/>
                <a:cs typeface="Times New Roman"/>
              </a:rPr>
              <a:t>effectively</a:t>
            </a:r>
            <a:r>
              <a:rPr sz="1800" spc="-30" dirty="0">
                <a:latin typeface="Times New Roman"/>
                <a:cs typeface="Times New Roman"/>
              </a:rPr>
              <a:t> </a:t>
            </a:r>
            <a:r>
              <a:rPr sz="1800" dirty="0">
                <a:latin typeface="Times New Roman"/>
                <a:cs typeface="Times New Roman"/>
              </a:rPr>
              <a:t>segmented</a:t>
            </a:r>
            <a:r>
              <a:rPr sz="1800" spc="-30" dirty="0">
                <a:latin typeface="Times New Roman"/>
                <a:cs typeface="Times New Roman"/>
              </a:rPr>
              <a:t> </a:t>
            </a:r>
            <a:r>
              <a:rPr sz="1800" spc="-10" dirty="0">
                <a:latin typeface="Times New Roman"/>
                <a:cs typeface="Times New Roman"/>
              </a:rPr>
              <a:t>customers</a:t>
            </a:r>
            <a:r>
              <a:rPr sz="1800" spc="-40" dirty="0">
                <a:latin typeface="Times New Roman"/>
                <a:cs typeface="Times New Roman"/>
              </a:rPr>
              <a:t> </a:t>
            </a:r>
            <a:r>
              <a:rPr sz="1800" dirty="0">
                <a:latin typeface="Times New Roman"/>
                <a:cs typeface="Times New Roman"/>
              </a:rPr>
              <a:t>based</a:t>
            </a:r>
            <a:r>
              <a:rPr sz="1800" spc="-30" dirty="0">
                <a:latin typeface="Times New Roman"/>
                <a:cs typeface="Times New Roman"/>
              </a:rPr>
              <a:t> </a:t>
            </a:r>
            <a:r>
              <a:rPr sz="1800" dirty="0">
                <a:latin typeface="Times New Roman"/>
                <a:cs typeface="Times New Roman"/>
              </a:rPr>
              <a:t>on</a:t>
            </a:r>
            <a:r>
              <a:rPr sz="1800" spc="-30" dirty="0">
                <a:latin typeface="Times New Roman"/>
                <a:cs typeface="Times New Roman"/>
              </a:rPr>
              <a:t> </a:t>
            </a:r>
            <a:r>
              <a:rPr sz="1800" dirty="0">
                <a:latin typeface="Times New Roman"/>
                <a:cs typeface="Times New Roman"/>
              </a:rPr>
              <a:t>behavior</a:t>
            </a:r>
            <a:r>
              <a:rPr sz="1800" spc="-35" dirty="0">
                <a:latin typeface="Times New Roman"/>
                <a:cs typeface="Times New Roman"/>
              </a:rPr>
              <a:t> </a:t>
            </a:r>
            <a:r>
              <a:rPr sz="1800" spc="-10" dirty="0">
                <a:latin typeface="Times New Roman"/>
                <a:cs typeface="Times New Roman"/>
              </a:rPr>
              <a:t>patterns, </a:t>
            </a:r>
            <a:r>
              <a:rPr lang="en-US" sz="1800" dirty="0">
                <a:latin typeface="Times New Roman"/>
                <a:cs typeface="Times New Roman"/>
              </a:rPr>
              <a:t>which</a:t>
            </a:r>
            <a:r>
              <a:rPr lang="en-US" spc="-45" dirty="0">
                <a:latin typeface="Times New Roman"/>
                <a:cs typeface="Times New Roman"/>
              </a:rPr>
              <a:t> </a:t>
            </a:r>
            <a:r>
              <a:rPr lang="en-US" sz="1800" spc="-10" dirty="0">
                <a:latin typeface="Times New Roman"/>
                <a:cs typeface="Times New Roman"/>
              </a:rPr>
              <a:t>improved</a:t>
            </a:r>
            <a:r>
              <a:rPr lang="en-US" spc="-10" dirty="0">
                <a:latin typeface="Times New Roman"/>
                <a:cs typeface="Times New Roman"/>
              </a:rPr>
              <a:t> </a:t>
            </a:r>
            <a:r>
              <a:rPr sz="1800" dirty="0">
                <a:latin typeface="Times New Roman"/>
                <a:cs typeface="Times New Roman"/>
              </a:rPr>
              <a:t>targeting</a:t>
            </a:r>
            <a:r>
              <a:rPr sz="1800" spc="-55" dirty="0">
                <a:latin typeface="Times New Roman"/>
                <a:cs typeface="Times New Roman"/>
              </a:rPr>
              <a:t> </a:t>
            </a:r>
            <a:r>
              <a:rPr sz="1800" dirty="0">
                <a:latin typeface="Times New Roman"/>
                <a:cs typeface="Times New Roman"/>
              </a:rPr>
              <a:t>precision</a:t>
            </a:r>
            <a:r>
              <a:rPr sz="1800" spc="-55" dirty="0">
                <a:latin typeface="Times New Roman"/>
                <a:cs typeface="Times New Roman"/>
              </a:rPr>
              <a:t> </a:t>
            </a:r>
            <a:r>
              <a:rPr sz="1800" dirty="0">
                <a:latin typeface="Times New Roman"/>
                <a:cs typeface="Times New Roman"/>
              </a:rPr>
              <a:t>by</a:t>
            </a:r>
            <a:r>
              <a:rPr sz="1800" spc="-55" dirty="0">
                <a:latin typeface="Times New Roman"/>
                <a:cs typeface="Times New Roman"/>
              </a:rPr>
              <a:t> </a:t>
            </a:r>
            <a:r>
              <a:rPr sz="1800" spc="-20" dirty="0">
                <a:latin typeface="Times New Roman"/>
                <a:cs typeface="Times New Roman"/>
              </a:rPr>
              <a:t>20%.</a:t>
            </a:r>
            <a:endParaRPr sz="1800" dirty="0">
              <a:latin typeface="Times New Roman"/>
              <a:cs typeface="Times New Roman"/>
            </a:endParaRPr>
          </a:p>
        </p:txBody>
      </p:sp>
      <p:sp>
        <p:nvSpPr>
          <p:cNvPr id="5" name="object 5"/>
          <p:cNvSpPr txBox="1"/>
          <p:nvPr/>
        </p:nvSpPr>
        <p:spPr>
          <a:xfrm>
            <a:off x="831192" y="2708681"/>
            <a:ext cx="10361930" cy="3237424"/>
          </a:xfrm>
          <a:prstGeom prst="rect">
            <a:avLst/>
          </a:prstGeom>
        </p:spPr>
        <p:txBody>
          <a:bodyPr vert="horz" wrap="square" lIns="0" tIns="61594" rIns="0" bIns="0" rtlCol="0">
            <a:spAutoFit/>
          </a:bodyPr>
          <a:lstStyle/>
          <a:p>
            <a:pPr marL="149860" indent="-137160">
              <a:lnSpc>
                <a:spcPct val="100000"/>
              </a:lnSpc>
              <a:spcBef>
                <a:spcPts val="484"/>
              </a:spcBef>
              <a:buChar char="•"/>
              <a:tabLst>
                <a:tab pos="149860" algn="l"/>
              </a:tabLst>
            </a:pPr>
            <a:r>
              <a:rPr sz="2000" b="1" spc="-20" dirty="0">
                <a:latin typeface="Times New Roman"/>
                <a:cs typeface="Times New Roman"/>
              </a:rPr>
              <a:t>Predictive</a:t>
            </a:r>
            <a:r>
              <a:rPr sz="2000" b="1" spc="-105" dirty="0">
                <a:latin typeface="Times New Roman"/>
                <a:cs typeface="Times New Roman"/>
              </a:rPr>
              <a:t> </a:t>
            </a:r>
            <a:r>
              <a:rPr sz="2000" b="1" dirty="0">
                <a:latin typeface="Times New Roman"/>
                <a:cs typeface="Times New Roman"/>
              </a:rPr>
              <a:t>Accuracy</a:t>
            </a:r>
            <a:r>
              <a:rPr sz="2000" dirty="0">
                <a:latin typeface="Times New Roman"/>
                <a:cs typeface="Times New Roman"/>
              </a:rPr>
              <a:t>:</a:t>
            </a:r>
            <a:r>
              <a:rPr sz="2000" spc="-110" dirty="0">
                <a:latin typeface="Times New Roman"/>
                <a:cs typeface="Times New Roman"/>
              </a:rPr>
              <a:t> </a:t>
            </a:r>
            <a:r>
              <a:rPr sz="1800" dirty="0">
                <a:latin typeface="Times New Roman"/>
                <a:cs typeface="Times New Roman"/>
              </a:rPr>
              <a:t>The</a:t>
            </a:r>
            <a:r>
              <a:rPr sz="1800" spc="-45" dirty="0">
                <a:latin typeface="Times New Roman"/>
                <a:cs typeface="Times New Roman"/>
              </a:rPr>
              <a:t> </a:t>
            </a:r>
            <a:r>
              <a:rPr sz="1800" dirty="0">
                <a:latin typeface="Times New Roman"/>
                <a:cs typeface="Times New Roman"/>
              </a:rPr>
              <a:t>Random</a:t>
            </a:r>
            <a:r>
              <a:rPr sz="1800" spc="-50" dirty="0">
                <a:latin typeface="Times New Roman"/>
                <a:cs typeface="Times New Roman"/>
              </a:rPr>
              <a:t> </a:t>
            </a:r>
            <a:r>
              <a:rPr sz="1800" dirty="0">
                <a:latin typeface="Times New Roman"/>
                <a:cs typeface="Times New Roman"/>
              </a:rPr>
              <a:t>Forest</a:t>
            </a:r>
            <a:r>
              <a:rPr sz="1800" spc="-45" dirty="0">
                <a:latin typeface="Times New Roman"/>
                <a:cs typeface="Times New Roman"/>
              </a:rPr>
              <a:t> </a:t>
            </a:r>
            <a:r>
              <a:rPr sz="1800" dirty="0">
                <a:latin typeface="Times New Roman"/>
                <a:cs typeface="Times New Roman"/>
              </a:rPr>
              <a:t>model</a:t>
            </a:r>
            <a:r>
              <a:rPr sz="1800" spc="-50" dirty="0">
                <a:latin typeface="Times New Roman"/>
                <a:cs typeface="Times New Roman"/>
              </a:rPr>
              <a:t> </a:t>
            </a:r>
            <a:r>
              <a:rPr sz="1800" dirty="0">
                <a:latin typeface="Times New Roman"/>
                <a:cs typeface="Times New Roman"/>
              </a:rPr>
              <a:t>predicted</a:t>
            </a:r>
            <a:r>
              <a:rPr sz="1800" spc="-40" dirty="0">
                <a:latin typeface="Times New Roman"/>
                <a:cs typeface="Times New Roman"/>
              </a:rPr>
              <a:t> </a:t>
            </a:r>
            <a:r>
              <a:rPr sz="1800" dirty="0">
                <a:latin typeface="Times New Roman"/>
                <a:cs typeface="Times New Roman"/>
              </a:rPr>
              <a:t>customer</a:t>
            </a:r>
            <a:r>
              <a:rPr sz="1800" spc="-45" dirty="0">
                <a:latin typeface="Times New Roman"/>
                <a:cs typeface="Times New Roman"/>
              </a:rPr>
              <a:t> </a:t>
            </a:r>
            <a:r>
              <a:rPr sz="1800" dirty="0">
                <a:latin typeface="Times New Roman"/>
                <a:cs typeface="Times New Roman"/>
              </a:rPr>
              <a:t>purchase</a:t>
            </a:r>
            <a:r>
              <a:rPr sz="1800" spc="-45" dirty="0">
                <a:latin typeface="Times New Roman"/>
                <a:cs typeface="Times New Roman"/>
              </a:rPr>
              <a:t> </a:t>
            </a:r>
            <a:r>
              <a:rPr sz="1800" dirty="0">
                <a:latin typeface="Times New Roman"/>
                <a:cs typeface="Times New Roman"/>
              </a:rPr>
              <a:t>behavior</a:t>
            </a:r>
            <a:r>
              <a:rPr sz="1800" spc="-45" dirty="0">
                <a:latin typeface="Times New Roman"/>
                <a:cs typeface="Times New Roman"/>
              </a:rPr>
              <a:t> </a:t>
            </a:r>
            <a:r>
              <a:rPr sz="1800" dirty="0">
                <a:latin typeface="Times New Roman"/>
                <a:cs typeface="Times New Roman"/>
              </a:rPr>
              <a:t>with</a:t>
            </a:r>
            <a:r>
              <a:rPr sz="1800" spc="-40" dirty="0">
                <a:latin typeface="Times New Roman"/>
                <a:cs typeface="Times New Roman"/>
              </a:rPr>
              <a:t> </a:t>
            </a:r>
            <a:r>
              <a:rPr sz="1800" dirty="0">
                <a:latin typeface="Times New Roman"/>
                <a:cs typeface="Times New Roman"/>
              </a:rPr>
              <a:t>85%</a:t>
            </a:r>
            <a:r>
              <a:rPr sz="1800" spc="-45" dirty="0">
                <a:latin typeface="Times New Roman"/>
                <a:cs typeface="Times New Roman"/>
              </a:rPr>
              <a:t> </a:t>
            </a:r>
            <a:r>
              <a:rPr sz="1800" spc="-10" dirty="0">
                <a:latin typeface="Times New Roman"/>
                <a:cs typeface="Times New Roman"/>
              </a:rPr>
              <a:t>accuracy.</a:t>
            </a:r>
            <a:endParaRPr sz="1800" dirty="0">
              <a:latin typeface="Times New Roman"/>
              <a:cs typeface="Times New Roman"/>
            </a:endParaRPr>
          </a:p>
          <a:p>
            <a:pPr marL="92710" marR="213360" indent="-80645" algn="just">
              <a:lnSpc>
                <a:spcPts val="1939"/>
              </a:lnSpc>
              <a:spcBef>
                <a:spcPts val="630"/>
              </a:spcBef>
              <a:buChar char="•"/>
              <a:tabLst>
                <a:tab pos="92710" algn="l"/>
                <a:tab pos="149225" algn="l"/>
              </a:tabLst>
            </a:pPr>
            <a:r>
              <a:rPr sz="1800" b="1" dirty="0">
                <a:latin typeface="Times New Roman"/>
                <a:cs typeface="Times New Roman"/>
              </a:rPr>
              <a:t>	</a:t>
            </a:r>
            <a:r>
              <a:rPr sz="2000" b="1" dirty="0">
                <a:latin typeface="Times New Roman"/>
                <a:cs typeface="Times New Roman"/>
              </a:rPr>
              <a:t>Campaign</a:t>
            </a:r>
            <a:r>
              <a:rPr sz="2000" b="1" spc="-60" dirty="0">
                <a:latin typeface="Times New Roman"/>
                <a:cs typeface="Times New Roman"/>
              </a:rPr>
              <a:t> </a:t>
            </a:r>
            <a:r>
              <a:rPr sz="2000" b="1" spc="-10" dirty="0">
                <a:latin typeface="Times New Roman"/>
                <a:cs typeface="Times New Roman"/>
              </a:rPr>
              <a:t>Optimization</a:t>
            </a:r>
            <a:r>
              <a:rPr sz="2000" spc="-10" dirty="0">
                <a:latin typeface="Times New Roman"/>
                <a:cs typeface="Times New Roman"/>
              </a:rPr>
              <a:t>:</a:t>
            </a:r>
            <a:r>
              <a:rPr sz="2000" spc="-105" dirty="0">
                <a:latin typeface="Times New Roman"/>
                <a:cs typeface="Times New Roman"/>
              </a:rPr>
              <a:t> </a:t>
            </a:r>
            <a:r>
              <a:rPr sz="1800" spc="-10" dirty="0">
                <a:latin typeface="Times New Roman"/>
                <a:cs typeface="Times New Roman"/>
              </a:rPr>
              <a:t>AI-</a:t>
            </a:r>
            <a:r>
              <a:rPr sz="1800" dirty="0">
                <a:latin typeface="Times New Roman"/>
                <a:cs typeface="Times New Roman"/>
              </a:rPr>
              <a:t>driven</a:t>
            </a:r>
            <a:r>
              <a:rPr sz="1800" spc="-30" dirty="0">
                <a:latin typeface="Times New Roman"/>
                <a:cs typeface="Times New Roman"/>
              </a:rPr>
              <a:t> </a:t>
            </a:r>
            <a:r>
              <a:rPr sz="1800" dirty="0">
                <a:latin typeface="Times New Roman"/>
                <a:cs typeface="Times New Roman"/>
              </a:rPr>
              <a:t>adjustments</a:t>
            </a:r>
            <a:r>
              <a:rPr sz="1800" spc="-35" dirty="0">
                <a:latin typeface="Times New Roman"/>
                <a:cs typeface="Times New Roman"/>
              </a:rPr>
              <a:t> </a:t>
            </a:r>
            <a:r>
              <a:rPr sz="1800" dirty="0">
                <a:latin typeface="Times New Roman"/>
                <a:cs typeface="Times New Roman"/>
              </a:rPr>
              <a:t>led</a:t>
            </a:r>
            <a:r>
              <a:rPr sz="1800" spc="-30" dirty="0">
                <a:latin typeface="Times New Roman"/>
                <a:cs typeface="Times New Roman"/>
              </a:rPr>
              <a:t> </a:t>
            </a:r>
            <a:r>
              <a:rPr sz="1800" dirty="0">
                <a:latin typeface="Times New Roman"/>
                <a:cs typeface="Times New Roman"/>
              </a:rPr>
              <a:t>to</a:t>
            </a:r>
            <a:r>
              <a:rPr sz="1800" spc="-25" dirty="0">
                <a:latin typeface="Times New Roman"/>
                <a:cs typeface="Times New Roman"/>
              </a:rPr>
              <a:t> </a:t>
            </a:r>
            <a:r>
              <a:rPr sz="1800" dirty="0">
                <a:latin typeface="Times New Roman"/>
                <a:cs typeface="Times New Roman"/>
              </a:rPr>
              <a:t>a</a:t>
            </a:r>
            <a:r>
              <a:rPr sz="1800" spc="-35" dirty="0">
                <a:latin typeface="Times New Roman"/>
                <a:cs typeface="Times New Roman"/>
              </a:rPr>
              <a:t> </a:t>
            </a:r>
            <a:r>
              <a:rPr sz="1800" dirty="0">
                <a:latin typeface="Times New Roman"/>
                <a:cs typeface="Times New Roman"/>
              </a:rPr>
              <a:t>15%</a:t>
            </a:r>
            <a:r>
              <a:rPr sz="1800" spc="-30" dirty="0">
                <a:latin typeface="Times New Roman"/>
                <a:cs typeface="Times New Roman"/>
              </a:rPr>
              <a:t> </a:t>
            </a:r>
            <a:r>
              <a:rPr sz="1800" dirty="0">
                <a:latin typeface="Times New Roman"/>
                <a:cs typeface="Times New Roman"/>
              </a:rPr>
              <a:t>increase</a:t>
            </a:r>
            <a:r>
              <a:rPr sz="1800" spc="-3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campaign</a:t>
            </a:r>
            <a:r>
              <a:rPr sz="1800" spc="-30" dirty="0">
                <a:latin typeface="Times New Roman"/>
                <a:cs typeface="Times New Roman"/>
              </a:rPr>
              <a:t> </a:t>
            </a:r>
            <a:r>
              <a:rPr sz="1800" dirty="0">
                <a:latin typeface="Times New Roman"/>
                <a:cs typeface="Times New Roman"/>
              </a:rPr>
              <a:t>ROI,</a:t>
            </a:r>
            <a:r>
              <a:rPr sz="1800" spc="-30" dirty="0">
                <a:latin typeface="Times New Roman"/>
                <a:cs typeface="Times New Roman"/>
              </a:rPr>
              <a:t> </a:t>
            </a:r>
            <a:r>
              <a:rPr sz="1800" dirty="0">
                <a:latin typeface="Times New Roman"/>
                <a:cs typeface="Times New Roman"/>
              </a:rPr>
              <a:t>demonstrating</a:t>
            </a:r>
            <a:r>
              <a:rPr sz="1800" spc="-30" dirty="0">
                <a:latin typeface="Times New Roman"/>
                <a:cs typeface="Times New Roman"/>
              </a:rPr>
              <a:t> </a:t>
            </a:r>
            <a:r>
              <a:rPr sz="1800" spc="-20" dirty="0">
                <a:latin typeface="Times New Roman"/>
                <a:cs typeface="Times New Roman"/>
              </a:rPr>
              <a:t>that real-</a:t>
            </a:r>
            <a:r>
              <a:rPr sz="1800" dirty="0">
                <a:latin typeface="Times New Roman"/>
                <a:cs typeface="Times New Roman"/>
              </a:rPr>
              <a:t>time</a:t>
            </a:r>
            <a:r>
              <a:rPr sz="1800" spc="-70" dirty="0">
                <a:latin typeface="Times New Roman"/>
                <a:cs typeface="Times New Roman"/>
              </a:rPr>
              <a:t> </a:t>
            </a:r>
            <a:r>
              <a:rPr sz="1800" dirty="0">
                <a:latin typeface="Times New Roman"/>
                <a:cs typeface="Times New Roman"/>
              </a:rPr>
              <a:t>optimization</a:t>
            </a:r>
            <a:r>
              <a:rPr sz="1800" spc="-70" dirty="0">
                <a:latin typeface="Times New Roman"/>
                <a:cs typeface="Times New Roman"/>
              </a:rPr>
              <a:t> </a:t>
            </a:r>
            <a:r>
              <a:rPr sz="1800" dirty="0">
                <a:latin typeface="Times New Roman"/>
                <a:cs typeface="Times New Roman"/>
              </a:rPr>
              <a:t>significantly</a:t>
            </a:r>
            <a:r>
              <a:rPr sz="1800" spc="-65" dirty="0">
                <a:latin typeface="Times New Roman"/>
                <a:cs typeface="Times New Roman"/>
              </a:rPr>
              <a:t> </a:t>
            </a:r>
            <a:r>
              <a:rPr sz="1800" dirty="0">
                <a:latin typeface="Times New Roman"/>
                <a:cs typeface="Times New Roman"/>
              </a:rPr>
              <a:t>enhanced</a:t>
            </a:r>
            <a:r>
              <a:rPr sz="1800" spc="-65" dirty="0">
                <a:latin typeface="Times New Roman"/>
                <a:cs typeface="Times New Roman"/>
              </a:rPr>
              <a:t> </a:t>
            </a:r>
            <a:r>
              <a:rPr sz="1800" dirty="0">
                <a:latin typeface="Times New Roman"/>
                <a:cs typeface="Times New Roman"/>
              </a:rPr>
              <a:t>marketing</a:t>
            </a:r>
            <a:r>
              <a:rPr sz="1800" spc="-65" dirty="0">
                <a:latin typeface="Times New Roman"/>
                <a:cs typeface="Times New Roman"/>
              </a:rPr>
              <a:t> </a:t>
            </a:r>
            <a:r>
              <a:rPr sz="1800" spc="-10" dirty="0">
                <a:latin typeface="Times New Roman"/>
                <a:cs typeface="Times New Roman"/>
              </a:rPr>
              <a:t>performance.</a:t>
            </a:r>
            <a:endParaRPr sz="1800" dirty="0">
              <a:latin typeface="Times New Roman"/>
              <a:cs typeface="Times New Roman"/>
            </a:endParaRPr>
          </a:p>
          <a:p>
            <a:pPr>
              <a:lnSpc>
                <a:spcPct val="100000"/>
              </a:lnSpc>
              <a:spcBef>
                <a:spcPts val="235"/>
              </a:spcBef>
            </a:pPr>
            <a:endParaRPr sz="1800" dirty="0">
              <a:latin typeface="Times New Roman"/>
              <a:cs typeface="Times New Roman"/>
            </a:endParaRPr>
          </a:p>
          <a:p>
            <a:pPr marL="92710">
              <a:lnSpc>
                <a:spcPct val="100000"/>
              </a:lnSpc>
            </a:pPr>
            <a:r>
              <a:rPr sz="2200" b="1" spc="-10" dirty="0">
                <a:latin typeface="Times New Roman"/>
                <a:cs typeface="Times New Roman"/>
              </a:rPr>
              <a:t>Discussion</a:t>
            </a:r>
            <a:r>
              <a:rPr sz="2200" spc="-10" dirty="0">
                <a:latin typeface="Times New Roman"/>
                <a:cs typeface="Times New Roman"/>
              </a:rPr>
              <a:t>:</a:t>
            </a:r>
            <a:endParaRPr sz="2200" dirty="0">
              <a:latin typeface="Times New Roman"/>
              <a:cs typeface="Times New Roman"/>
            </a:endParaRPr>
          </a:p>
          <a:p>
            <a:pPr marL="92710" marR="275590" indent="-80645">
              <a:lnSpc>
                <a:spcPts val="1939"/>
              </a:lnSpc>
              <a:spcBef>
                <a:spcPts val="630"/>
              </a:spcBef>
              <a:buChar char="•"/>
              <a:tabLst>
                <a:tab pos="92710" algn="l"/>
                <a:tab pos="144780" algn="l"/>
              </a:tabLst>
            </a:pPr>
            <a:r>
              <a:rPr sz="1800" dirty="0">
                <a:latin typeface="Times New Roman"/>
                <a:cs typeface="Times New Roman"/>
              </a:rPr>
              <a:t>	</a:t>
            </a:r>
            <a:r>
              <a:rPr sz="1800" spc="-20" dirty="0">
                <a:latin typeface="Times New Roman"/>
                <a:cs typeface="Times New Roman"/>
              </a:rPr>
              <a:t>The</a:t>
            </a:r>
            <a:r>
              <a:rPr sz="1800" spc="-105" dirty="0">
                <a:latin typeface="Times New Roman"/>
                <a:cs typeface="Times New Roman"/>
              </a:rPr>
              <a:t> </a:t>
            </a:r>
            <a:r>
              <a:rPr sz="1800" dirty="0">
                <a:latin typeface="Times New Roman"/>
                <a:cs typeface="Times New Roman"/>
              </a:rPr>
              <a:t>AI</a:t>
            </a:r>
            <a:r>
              <a:rPr sz="1800" spc="-60" dirty="0">
                <a:latin typeface="Times New Roman"/>
                <a:cs typeface="Times New Roman"/>
              </a:rPr>
              <a:t> </a:t>
            </a:r>
            <a:r>
              <a:rPr sz="1800" dirty="0">
                <a:latin typeface="Times New Roman"/>
                <a:cs typeface="Times New Roman"/>
              </a:rPr>
              <a:t>models</a:t>
            </a:r>
            <a:r>
              <a:rPr sz="1800" spc="-40" dirty="0">
                <a:latin typeface="Times New Roman"/>
                <a:cs typeface="Times New Roman"/>
              </a:rPr>
              <a:t> </a:t>
            </a:r>
            <a:r>
              <a:rPr sz="1800" dirty="0">
                <a:latin typeface="Times New Roman"/>
                <a:cs typeface="Times New Roman"/>
              </a:rPr>
              <a:t>showed</a:t>
            </a:r>
            <a:r>
              <a:rPr sz="1800" spc="-35" dirty="0">
                <a:latin typeface="Times New Roman"/>
                <a:cs typeface="Times New Roman"/>
              </a:rPr>
              <a:t> </a:t>
            </a:r>
            <a:r>
              <a:rPr sz="1800" dirty="0">
                <a:latin typeface="Times New Roman"/>
                <a:cs typeface="Times New Roman"/>
              </a:rPr>
              <a:t>strong</a:t>
            </a:r>
            <a:r>
              <a:rPr sz="1800" spc="-30" dirty="0">
                <a:latin typeface="Times New Roman"/>
                <a:cs typeface="Times New Roman"/>
              </a:rPr>
              <a:t> </a:t>
            </a:r>
            <a:r>
              <a:rPr sz="1800" spc="-10" dirty="0">
                <a:latin typeface="Times New Roman"/>
                <a:cs typeface="Times New Roman"/>
              </a:rPr>
              <a:t>performance</a:t>
            </a:r>
            <a:r>
              <a:rPr sz="1800" spc="-40" dirty="0">
                <a:latin typeface="Times New Roman"/>
                <a:cs typeface="Times New Roman"/>
              </a:rPr>
              <a:t> </a:t>
            </a:r>
            <a:r>
              <a:rPr sz="1800" dirty="0">
                <a:latin typeface="Times New Roman"/>
                <a:cs typeface="Times New Roman"/>
              </a:rPr>
              <a:t>in</a:t>
            </a:r>
            <a:r>
              <a:rPr sz="1800" spc="-35" dirty="0">
                <a:latin typeface="Times New Roman"/>
                <a:cs typeface="Times New Roman"/>
              </a:rPr>
              <a:t> </a:t>
            </a:r>
            <a:r>
              <a:rPr sz="1800" dirty="0">
                <a:latin typeface="Times New Roman"/>
                <a:cs typeface="Times New Roman"/>
              </a:rPr>
              <a:t>segmenting</a:t>
            </a:r>
            <a:r>
              <a:rPr sz="1800" spc="-30" dirty="0">
                <a:latin typeface="Times New Roman"/>
                <a:cs typeface="Times New Roman"/>
              </a:rPr>
              <a:t> </a:t>
            </a:r>
            <a:r>
              <a:rPr sz="1800" spc="-10" dirty="0">
                <a:latin typeface="Times New Roman"/>
                <a:cs typeface="Times New Roman"/>
              </a:rPr>
              <a:t>customers</a:t>
            </a:r>
            <a:r>
              <a:rPr sz="1800" spc="-40"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personalizing</a:t>
            </a:r>
            <a:r>
              <a:rPr sz="1800" spc="-30" dirty="0">
                <a:latin typeface="Times New Roman"/>
                <a:cs typeface="Times New Roman"/>
              </a:rPr>
              <a:t> </a:t>
            </a:r>
            <a:r>
              <a:rPr sz="1800" dirty="0">
                <a:latin typeface="Times New Roman"/>
                <a:cs typeface="Times New Roman"/>
              </a:rPr>
              <a:t>content,</a:t>
            </a:r>
            <a:r>
              <a:rPr sz="1800" spc="-35" dirty="0">
                <a:latin typeface="Times New Roman"/>
                <a:cs typeface="Times New Roman"/>
              </a:rPr>
              <a:t> </a:t>
            </a:r>
            <a:r>
              <a:rPr sz="1800" dirty="0">
                <a:latin typeface="Times New Roman"/>
                <a:cs typeface="Times New Roman"/>
              </a:rPr>
              <a:t>which</a:t>
            </a:r>
            <a:r>
              <a:rPr sz="1800" spc="-35" dirty="0">
                <a:latin typeface="Times New Roman"/>
                <a:cs typeface="Times New Roman"/>
              </a:rPr>
              <a:t> </a:t>
            </a:r>
            <a:r>
              <a:rPr sz="1800" dirty="0">
                <a:latin typeface="Times New Roman"/>
                <a:cs typeface="Times New Roman"/>
              </a:rPr>
              <a:t>led</a:t>
            </a:r>
            <a:r>
              <a:rPr sz="1800" spc="-35" dirty="0">
                <a:latin typeface="Times New Roman"/>
                <a:cs typeface="Times New Roman"/>
              </a:rPr>
              <a:t> </a:t>
            </a:r>
            <a:r>
              <a:rPr sz="1800" spc="-25" dirty="0">
                <a:latin typeface="Times New Roman"/>
                <a:cs typeface="Times New Roman"/>
              </a:rPr>
              <a:t>to </a:t>
            </a:r>
            <a:r>
              <a:rPr sz="1800" dirty="0">
                <a:latin typeface="Times New Roman"/>
                <a:cs typeface="Times New Roman"/>
              </a:rPr>
              <a:t>increased</a:t>
            </a:r>
            <a:r>
              <a:rPr sz="1800" spc="-70" dirty="0">
                <a:latin typeface="Times New Roman"/>
                <a:cs typeface="Times New Roman"/>
              </a:rPr>
              <a:t> </a:t>
            </a:r>
            <a:r>
              <a:rPr sz="1800" spc="-10" dirty="0">
                <a:latin typeface="Times New Roman"/>
                <a:cs typeface="Times New Roman"/>
              </a:rPr>
              <a:t>engagement.</a:t>
            </a:r>
            <a:endParaRPr sz="1800" dirty="0">
              <a:latin typeface="Times New Roman"/>
              <a:cs typeface="Times New Roman"/>
            </a:endParaRPr>
          </a:p>
          <a:p>
            <a:pPr marL="92710" marR="233045" indent="-80645">
              <a:lnSpc>
                <a:spcPts val="1939"/>
              </a:lnSpc>
              <a:spcBef>
                <a:spcPts val="610"/>
              </a:spcBef>
              <a:buChar char="•"/>
              <a:tabLst>
                <a:tab pos="92710" algn="l"/>
                <a:tab pos="149225" algn="l"/>
                <a:tab pos="8888730" algn="l"/>
              </a:tabLst>
            </a:pPr>
            <a:r>
              <a:rPr sz="1800" dirty="0">
                <a:latin typeface="Times New Roman"/>
                <a:cs typeface="Times New Roman"/>
              </a:rPr>
              <a:t>	</a:t>
            </a:r>
            <a:r>
              <a:rPr sz="1800" spc="-10" dirty="0">
                <a:latin typeface="Times New Roman"/>
                <a:cs typeface="Times New Roman"/>
              </a:rPr>
              <a:t>Challenges</a:t>
            </a:r>
            <a:r>
              <a:rPr sz="1800" spc="-50" dirty="0">
                <a:latin typeface="Times New Roman"/>
                <a:cs typeface="Times New Roman"/>
              </a:rPr>
              <a:t> </a:t>
            </a:r>
            <a:r>
              <a:rPr sz="1800" dirty="0">
                <a:latin typeface="Times New Roman"/>
                <a:cs typeface="Times New Roman"/>
              </a:rPr>
              <a:t>included</a:t>
            </a:r>
            <a:r>
              <a:rPr sz="1800" spc="-50" dirty="0">
                <a:latin typeface="Times New Roman"/>
                <a:cs typeface="Times New Roman"/>
              </a:rPr>
              <a:t> </a:t>
            </a:r>
            <a:r>
              <a:rPr sz="1800" dirty="0">
                <a:latin typeface="Times New Roman"/>
                <a:cs typeface="Times New Roman"/>
              </a:rPr>
              <a:t>ensuring</a:t>
            </a:r>
            <a:r>
              <a:rPr sz="1800" spc="-45" dirty="0">
                <a:latin typeface="Times New Roman"/>
                <a:cs typeface="Times New Roman"/>
              </a:rPr>
              <a:t> </a:t>
            </a:r>
            <a:r>
              <a:rPr sz="1800" dirty="0">
                <a:latin typeface="Times New Roman"/>
                <a:cs typeface="Times New Roman"/>
              </a:rPr>
              <a:t>data</a:t>
            </a:r>
            <a:r>
              <a:rPr sz="1800" spc="-50" dirty="0">
                <a:latin typeface="Times New Roman"/>
                <a:cs typeface="Times New Roman"/>
              </a:rPr>
              <a:t> </a:t>
            </a:r>
            <a:r>
              <a:rPr sz="1800" dirty="0">
                <a:latin typeface="Times New Roman"/>
                <a:cs typeface="Times New Roman"/>
              </a:rPr>
              <a:t>quality</a:t>
            </a:r>
            <a:r>
              <a:rPr sz="1800" spc="-4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dealing</a:t>
            </a:r>
            <a:r>
              <a:rPr sz="1800" spc="-45" dirty="0">
                <a:latin typeface="Times New Roman"/>
                <a:cs typeface="Times New Roman"/>
              </a:rPr>
              <a:t> </a:t>
            </a:r>
            <a:r>
              <a:rPr sz="1800" dirty="0">
                <a:latin typeface="Times New Roman"/>
                <a:cs typeface="Times New Roman"/>
              </a:rPr>
              <a:t>with</a:t>
            </a:r>
            <a:r>
              <a:rPr sz="1800" spc="-45" dirty="0">
                <a:latin typeface="Times New Roman"/>
                <a:cs typeface="Times New Roman"/>
              </a:rPr>
              <a:t> </a:t>
            </a:r>
            <a:r>
              <a:rPr sz="1800" dirty="0">
                <a:latin typeface="Times New Roman"/>
                <a:cs typeface="Times New Roman"/>
              </a:rPr>
              <a:t>model</a:t>
            </a:r>
            <a:r>
              <a:rPr sz="1800" spc="-50" dirty="0">
                <a:latin typeface="Times New Roman"/>
                <a:cs typeface="Times New Roman"/>
              </a:rPr>
              <a:t> </a:t>
            </a:r>
            <a:r>
              <a:rPr sz="1800" dirty="0">
                <a:latin typeface="Times New Roman"/>
                <a:cs typeface="Times New Roman"/>
              </a:rPr>
              <a:t>overfitting</a:t>
            </a:r>
            <a:r>
              <a:rPr sz="1800" spc="-45" dirty="0">
                <a:latin typeface="Times New Roman"/>
                <a:cs typeface="Times New Roman"/>
              </a:rPr>
              <a:t> </a:t>
            </a:r>
            <a:r>
              <a:rPr sz="1800" dirty="0">
                <a:latin typeface="Times New Roman"/>
                <a:cs typeface="Times New Roman"/>
              </a:rPr>
              <a:t>during</a:t>
            </a:r>
            <a:r>
              <a:rPr sz="1800" spc="-45"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spc="-10" dirty="0">
                <a:latin typeface="Times New Roman"/>
                <a:cs typeface="Times New Roman"/>
              </a:rPr>
              <a:t>early</a:t>
            </a:r>
            <a:r>
              <a:rPr lang="en-US" spc="-10" dirty="0">
                <a:latin typeface="Times New Roman"/>
                <a:cs typeface="Times New Roman"/>
              </a:rPr>
              <a:t> </a:t>
            </a:r>
            <a:r>
              <a:rPr sz="1800" dirty="0">
                <a:latin typeface="Times New Roman"/>
                <a:cs typeface="Times New Roman"/>
              </a:rPr>
              <a:t>stages,</a:t>
            </a:r>
            <a:r>
              <a:rPr sz="1800" spc="-50" dirty="0">
                <a:latin typeface="Times New Roman"/>
                <a:cs typeface="Times New Roman"/>
              </a:rPr>
              <a:t> </a:t>
            </a:r>
            <a:r>
              <a:rPr sz="1800" spc="-10" dirty="0">
                <a:latin typeface="Times New Roman"/>
                <a:cs typeface="Times New Roman"/>
              </a:rPr>
              <a:t>which </a:t>
            </a:r>
            <a:r>
              <a:rPr sz="1800" dirty="0">
                <a:latin typeface="Times New Roman"/>
                <a:cs typeface="Times New Roman"/>
              </a:rPr>
              <a:t>required</a:t>
            </a:r>
            <a:r>
              <a:rPr sz="1800" spc="-45" dirty="0">
                <a:latin typeface="Times New Roman"/>
                <a:cs typeface="Times New Roman"/>
              </a:rPr>
              <a:t> </a:t>
            </a:r>
            <a:r>
              <a:rPr sz="1800" spc="-10" dirty="0">
                <a:latin typeface="Times New Roman"/>
                <a:cs typeface="Times New Roman"/>
              </a:rPr>
              <a:t>fine-tuning.</a:t>
            </a:r>
            <a:endParaRPr sz="1800" dirty="0">
              <a:latin typeface="Times New Roman"/>
              <a:cs typeface="Times New Roman"/>
            </a:endParaRPr>
          </a:p>
          <a:p>
            <a:pPr marL="92710" marR="5080" indent="-80645">
              <a:lnSpc>
                <a:spcPts val="1939"/>
              </a:lnSpc>
              <a:spcBef>
                <a:spcPts val="605"/>
              </a:spcBef>
              <a:buChar char="•"/>
              <a:tabLst>
                <a:tab pos="92710" algn="l"/>
                <a:tab pos="144780" algn="l"/>
              </a:tabLst>
            </a:pPr>
            <a:r>
              <a:rPr sz="1800" dirty="0">
                <a:latin typeface="Times New Roman"/>
                <a:cs typeface="Times New Roman"/>
              </a:rPr>
              <a:t>	The</a:t>
            </a:r>
            <a:r>
              <a:rPr sz="1800" spc="-85" dirty="0">
                <a:latin typeface="Times New Roman"/>
                <a:cs typeface="Times New Roman"/>
              </a:rPr>
              <a:t> </a:t>
            </a:r>
            <a:r>
              <a:rPr sz="1800" dirty="0">
                <a:latin typeface="Times New Roman"/>
                <a:cs typeface="Times New Roman"/>
              </a:rPr>
              <a:t>results</a:t>
            </a:r>
            <a:r>
              <a:rPr sz="1800" spc="-45" dirty="0">
                <a:latin typeface="Times New Roman"/>
                <a:cs typeface="Times New Roman"/>
              </a:rPr>
              <a:t> </a:t>
            </a:r>
            <a:r>
              <a:rPr sz="1800" dirty="0">
                <a:latin typeface="Times New Roman"/>
                <a:cs typeface="Times New Roman"/>
              </a:rPr>
              <a:t>validate</a:t>
            </a:r>
            <a:r>
              <a:rPr sz="1800" spc="-50" dirty="0">
                <a:latin typeface="Times New Roman"/>
                <a:cs typeface="Times New Roman"/>
              </a:rPr>
              <a:t> </a:t>
            </a:r>
            <a:r>
              <a:rPr sz="1800" spc="-20" dirty="0">
                <a:latin typeface="Times New Roman"/>
                <a:cs typeface="Times New Roman"/>
              </a:rPr>
              <a:t>that</a:t>
            </a:r>
            <a:r>
              <a:rPr sz="1800" spc="-105" dirty="0">
                <a:latin typeface="Times New Roman"/>
                <a:cs typeface="Times New Roman"/>
              </a:rPr>
              <a:t> </a:t>
            </a:r>
            <a:r>
              <a:rPr sz="1800" dirty="0">
                <a:latin typeface="Times New Roman"/>
                <a:cs typeface="Times New Roman"/>
              </a:rPr>
              <a:t>AI</a:t>
            </a:r>
            <a:r>
              <a:rPr sz="1800" spc="-40" dirty="0">
                <a:latin typeface="Times New Roman"/>
                <a:cs typeface="Times New Roman"/>
              </a:rPr>
              <a:t> </a:t>
            </a:r>
            <a:r>
              <a:rPr sz="1800" dirty="0">
                <a:latin typeface="Times New Roman"/>
                <a:cs typeface="Times New Roman"/>
              </a:rPr>
              <a:t>can</a:t>
            </a:r>
            <a:r>
              <a:rPr sz="1800" spc="-45" dirty="0">
                <a:latin typeface="Times New Roman"/>
                <a:cs typeface="Times New Roman"/>
              </a:rPr>
              <a:t> </a:t>
            </a:r>
            <a:r>
              <a:rPr sz="1800" dirty="0">
                <a:latin typeface="Times New Roman"/>
                <a:cs typeface="Times New Roman"/>
              </a:rPr>
              <a:t>drive</a:t>
            </a:r>
            <a:r>
              <a:rPr sz="1800" spc="-50" dirty="0">
                <a:latin typeface="Times New Roman"/>
                <a:cs typeface="Times New Roman"/>
              </a:rPr>
              <a:t> </a:t>
            </a:r>
            <a:r>
              <a:rPr sz="1800" dirty="0">
                <a:latin typeface="Times New Roman"/>
                <a:cs typeface="Times New Roman"/>
              </a:rPr>
              <a:t>more</a:t>
            </a:r>
            <a:r>
              <a:rPr sz="1800" spc="-45" dirty="0">
                <a:latin typeface="Times New Roman"/>
                <a:cs typeface="Times New Roman"/>
              </a:rPr>
              <a:t> </a:t>
            </a:r>
            <a:r>
              <a:rPr sz="1800" spc="-10" dirty="0">
                <a:latin typeface="Times New Roman"/>
                <a:cs typeface="Times New Roman"/>
              </a:rPr>
              <a:t>efficient</a:t>
            </a:r>
            <a:r>
              <a:rPr sz="1800" spc="-50"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spc="-10" dirty="0">
                <a:latin typeface="Times New Roman"/>
                <a:cs typeface="Times New Roman"/>
              </a:rPr>
              <a:t>effective</a:t>
            </a:r>
            <a:r>
              <a:rPr sz="1800" spc="-50" dirty="0">
                <a:latin typeface="Times New Roman"/>
                <a:cs typeface="Times New Roman"/>
              </a:rPr>
              <a:t> </a:t>
            </a:r>
            <a:r>
              <a:rPr sz="1800" dirty="0">
                <a:latin typeface="Times New Roman"/>
                <a:cs typeface="Times New Roman"/>
              </a:rPr>
              <a:t>marketing</a:t>
            </a:r>
            <a:r>
              <a:rPr sz="1800" spc="-45" dirty="0">
                <a:latin typeface="Times New Roman"/>
                <a:cs typeface="Times New Roman"/>
              </a:rPr>
              <a:t> </a:t>
            </a:r>
            <a:r>
              <a:rPr sz="1800" dirty="0">
                <a:latin typeface="Times New Roman"/>
                <a:cs typeface="Times New Roman"/>
              </a:rPr>
              <a:t>campaigns,</a:t>
            </a:r>
            <a:r>
              <a:rPr sz="1800" spc="-40" dirty="0">
                <a:latin typeface="Times New Roman"/>
                <a:cs typeface="Times New Roman"/>
              </a:rPr>
              <a:t> </a:t>
            </a:r>
            <a:r>
              <a:rPr sz="1800" dirty="0">
                <a:latin typeface="Times New Roman"/>
                <a:cs typeface="Times New Roman"/>
              </a:rPr>
              <a:t>but</a:t>
            </a:r>
            <a:r>
              <a:rPr sz="1800" spc="-50" dirty="0">
                <a:latin typeface="Times New Roman"/>
                <a:cs typeface="Times New Roman"/>
              </a:rPr>
              <a:t> </a:t>
            </a:r>
            <a:r>
              <a:rPr sz="1800" dirty="0">
                <a:latin typeface="Times New Roman"/>
                <a:cs typeface="Times New Roman"/>
              </a:rPr>
              <a:t>further</a:t>
            </a:r>
            <a:r>
              <a:rPr sz="1800" spc="-40" dirty="0">
                <a:latin typeface="Times New Roman"/>
                <a:cs typeface="Times New Roman"/>
              </a:rPr>
              <a:t> </a:t>
            </a:r>
            <a:r>
              <a:rPr sz="1800" spc="-10" dirty="0">
                <a:latin typeface="Times New Roman"/>
                <a:cs typeface="Times New Roman"/>
              </a:rPr>
              <a:t>adjustments </a:t>
            </a:r>
            <a:r>
              <a:rPr sz="1800" dirty="0">
                <a:latin typeface="Times New Roman"/>
                <a:cs typeface="Times New Roman"/>
              </a:rPr>
              <a:t>and</a:t>
            </a:r>
            <a:r>
              <a:rPr sz="1800" spc="-50" dirty="0">
                <a:latin typeface="Times New Roman"/>
                <a:cs typeface="Times New Roman"/>
              </a:rPr>
              <a:t> </a:t>
            </a:r>
            <a:r>
              <a:rPr sz="1800" dirty="0">
                <a:latin typeface="Times New Roman"/>
                <a:cs typeface="Times New Roman"/>
              </a:rPr>
              <a:t>retraining</a:t>
            </a:r>
            <a:r>
              <a:rPr sz="1800" spc="-40" dirty="0">
                <a:latin typeface="Times New Roman"/>
                <a:cs typeface="Times New Roman"/>
              </a:rPr>
              <a:t> </a:t>
            </a:r>
            <a:r>
              <a:rPr sz="1800" dirty="0">
                <a:latin typeface="Times New Roman"/>
                <a:cs typeface="Times New Roman"/>
              </a:rPr>
              <a:t>may</a:t>
            </a:r>
            <a:r>
              <a:rPr sz="1800" spc="-40" dirty="0">
                <a:latin typeface="Times New Roman"/>
                <a:cs typeface="Times New Roman"/>
              </a:rPr>
              <a:t> </a:t>
            </a:r>
            <a:r>
              <a:rPr sz="1800" dirty="0">
                <a:latin typeface="Times New Roman"/>
                <a:cs typeface="Times New Roman"/>
              </a:rPr>
              <a:t>be</a:t>
            </a:r>
            <a:r>
              <a:rPr sz="1800" spc="-45" dirty="0">
                <a:latin typeface="Times New Roman"/>
                <a:cs typeface="Times New Roman"/>
              </a:rPr>
              <a:t> </a:t>
            </a:r>
            <a:r>
              <a:rPr sz="1800" dirty="0">
                <a:latin typeface="Times New Roman"/>
                <a:cs typeface="Times New Roman"/>
              </a:rPr>
              <a:t>needed</a:t>
            </a:r>
            <a:r>
              <a:rPr sz="1800" spc="-40" dirty="0">
                <a:latin typeface="Times New Roman"/>
                <a:cs typeface="Times New Roman"/>
              </a:rPr>
              <a:t> </a:t>
            </a:r>
            <a:r>
              <a:rPr sz="1800" dirty="0">
                <a:latin typeface="Times New Roman"/>
                <a:cs typeface="Times New Roman"/>
              </a:rPr>
              <a:t>over</a:t>
            </a:r>
            <a:r>
              <a:rPr sz="1800" spc="-40" dirty="0">
                <a:latin typeface="Times New Roman"/>
                <a:cs typeface="Times New Roman"/>
              </a:rPr>
              <a:t> </a:t>
            </a:r>
            <a:r>
              <a:rPr sz="1800" dirty="0">
                <a:latin typeface="Times New Roman"/>
                <a:cs typeface="Times New Roman"/>
              </a:rPr>
              <a:t>time</a:t>
            </a:r>
            <a:r>
              <a:rPr sz="1800" spc="-40"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adapt</a:t>
            </a:r>
            <a:r>
              <a:rPr sz="1800" spc="-45"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changing</a:t>
            </a:r>
            <a:r>
              <a:rPr sz="1800" spc="-40" dirty="0">
                <a:latin typeface="Times New Roman"/>
                <a:cs typeface="Times New Roman"/>
              </a:rPr>
              <a:t> </a:t>
            </a:r>
            <a:r>
              <a:rPr sz="1800" dirty="0">
                <a:latin typeface="Times New Roman"/>
                <a:cs typeface="Times New Roman"/>
              </a:rPr>
              <a:t>customer</a:t>
            </a:r>
            <a:r>
              <a:rPr sz="1800" spc="-35" dirty="0">
                <a:latin typeface="Times New Roman"/>
                <a:cs typeface="Times New Roman"/>
              </a:rPr>
              <a:t> </a:t>
            </a:r>
            <a:r>
              <a:rPr sz="1800" spc="-10" dirty="0">
                <a:latin typeface="Times New Roman"/>
                <a:cs typeface="Times New Roman"/>
              </a:rPr>
              <a:t>behavior.</a:t>
            </a:r>
            <a:endParaRPr sz="1800"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90AE1-4E64-F60E-956F-BFABE87267DE}"/>
              </a:ext>
            </a:extLst>
          </p:cNvPr>
          <p:cNvSpPr>
            <a:spLocks noGrp="1"/>
          </p:cNvSpPr>
          <p:nvPr>
            <p:ph sz="half" idx="2"/>
          </p:nvPr>
        </p:nvSpPr>
        <p:spPr>
          <a:xfrm>
            <a:off x="762000" y="685800"/>
            <a:ext cx="10896600" cy="6301725"/>
          </a:xfrm>
        </p:spPr>
        <p:txBody>
          <a:bodyPr/>
          <a:lstStyle/>
          <a:p>
            <a:pPr>
              <a:lnSpc>
                <a:spcPct val="150000"/>
              </a:lnSpc>
            </a:pPr>
            <a:r>
              <a:rPr lang="en-US" dirty="0"/>
              <a:t> </a:t>
            </a:r>
            <a:r>
              <a:rPr lang="en-US" sz="2800" i="1" dirty="0">
                <a:latin typeface="Times New Roman" panose="02020603050405020304" pitchFamily="18" charset="0"/>
                <a:cs typeface="Times New Roman" panose="02020603050405020304" pitchFamily="18" charset="0"/>
              </a:rPr>
              <a:t>Interpretation of Results: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Accuracy:</a:t>
            </a:r>
            <a:endParaRPr lang="en-US" sz="2200"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hybrid model achieved an accuracy of </a:t>
            </a:r>
            <a:r>
              <a:rPr lang="en-US" b="1" dirty="0">
                <a:latin typeface="Times New Roman" panose="02020603050405020304" pitchFamily="18" charset="0"/>
                <a:cs typeface="Times New Roman" panose="02020603050405020304" pitchFamily="18" charset="0"/>
              </a:rPr>
              <a:t>94.0%</a:t>
            </a:r>
            <a:r>
              <a:rPr lang="en-US" dirty="0">
                <a:latin typeface="Times New Roman" panose="02020603050405020304" pitchFamily="18" charset="0"/>
                <a:cs typeface="Times New Roman" panose="02020603050405020304" pitchFamily="18" charset="0"/>
              </a:rPr>
              <a:t>, indicating that the model correctly classified 94% of the images in the test set.</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Precision:</a:t>
            </a:r>
            <a:endParaRPr lang="en-US" sz="2200"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hybrid model's precision of </a:t>
            </a:r>
            <a:r>
              <a:rPr lang="en-US" b="1" dirty="0">
                <a:latin typeface="Times New Roman" panose="02020603050405020304" pitchFamily="18" charset="0"/>
                <a:cs typeface="Times New Roman" panose="02020603050405020304" pitchFamily="18" charset="0"/>
              </a:rPr>
              <a:t>94.2%</a:t>
            </a:r>
            <a:r>
              <a:rPr lang="en-US" dirty="0">
                <a:latin typeface="Times New Roman" panose="02020603050405020304" pitchFamily="18" charset="0"/>
                <a:cs typeface="Times New Roman" panose="02020603050405020304" pitchFamily="18" charset="0"/>
              </a:rPr>
              <a:t> suggests that when the model predicts oily skin, it is correct 94.2% of the time, reflecting a high level of reliability in its positive predictions.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Recall:</a:t>
            </a:r>
            <a:endParaRPr lang="en-US" sz="2200"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a recall of </a:t>
            </a:r>
            <a:r>
              <a:rPr lang="en-US" b="1" dirty="0">
                <a:latin typeface="Times New Roman" panose="02020603050405020304" pitchFamily="18" charset="0"/>
                <a:cs typeface="Times New Roman" panose="02020603050405020304" pitchFamily="18" charset="0"/>
              </a:rPr>
              <a:t>93.8%</a:t>
            </a:r>
            <a:r>
              <a:rPr lang="en-US" dirty="0">
                <a:latin typeface="Times New Roman" panose="02020603050405020304" pitchFamily="18" charset="0"/>
                <a:cs typeface="Times New Roman" panose="02020603050405020304" pitchFamily="18" charset="0"/>
              </a:rPr>
              <a:t>, the hybrid model successfully identified 93.8% of all actual oily, dry, and normal skin types, demonstrating its effectiveness in capturing true positive cases.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F1-Score:</a:t>
            </a:r>
            <a:endParaRPr lang="en-US" sz="2200"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F1-score of </a:t>
            </a:r>
            <a:r>
              <a:rPr lang="en-US" b="1" dirty="0">
                <a:latin typeface="Times New Roman" panose="02020603050405020304" pitchFamily="18" charset="0"/>
                <a:cs typeface="Times New Roman" panose="02020603050405020304" pitchFamily="18" charset="0"/>
              </a:rPr>
              <a:t>94.0%</a:t>
            </a:r>
            <a:r>
              <a:rPr lang="en-US" dirty="0">
                <a:latin typeface="Times New Roman" panose="02020603050405020304" pitchFamily="18" charset="0"/>
                <a:cs typeface="Times New Roman" panose="02020603050405020304" pitchFamily="18" charset="0"/>
              </a:rPr>
              <a:t> indicates a balanced performance between precision and recall, confirming that the model is robust across different skin types.</a:t>
            </a:r>
          </a:p>
          <a:p>
            <a:endParaRPr lang="en-US" dirty="0"/>
          </a:p>
        </p:txBody>
      </p:sp>
    </p:spTree>
    <p:extLst>
      <p:ext uri="{BB962C8B-B14F-4D97-AF65-F5344CB8AC3E}">
        <p14:creationId xmlns:p14="http://schemas.microsoft.com/office/powerpoint/2010/main" val="3155829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3EEB832-120A-4B70-440F-9AED012FE485}"/>
              </a:ext>
            </a:extLst>
          </p:cNvPr>
          <p:cNvSpPr>
            <a:spLocks noGrp="1"/>
          </p:cNvSpPr>
          <p:nvPr>
            <p:ph type="title"/>
          </p:nvPr>
        </p:nvSpPr>
        <p:spPr>
          <a:xfrm>
            <a:off x="678821" y="810739"/>
            <a:ext cx="10304227" cy="938719"/>
          </a:xfrm>
        </p:spPr>
        <p:txBody>
          <a:bodyPr/>
          <a:lstStyle/>
          <a:p>
            <a:r>
              <a:rPr lang="en-US" sz="2800" dirty="0">
                <a:latin typeface="Times New Roman" panose="02020603050405020304" pitchFamily="18" charset="0"/>
                <a:cs typeface="Times New Roman" panose="02020603050405020304" pitchFamily="18" charset="0"/>
              </a:rPr>
              <a:t>Training Performance:</a:t>
            </a:r>
            <a:br>
              <a:rPr lang="en-US" i="0" dirty="0"/>
            </a:br>
            <a:endParaRPr lang="en-US" dirty="0"/>
          </a:p>
        </p:txBody>
      </p:sp>
      <p:sp>
        <p:nvSpPr>
          <p:cNvPr id="11" name="Text Placeholder 2">
            <a:extLst>
              <a:ext uri="{FF2B5EF4-FFF2-40B4-BE49-F238E27FC236}">
                <a16:creationId xmlns:a16="http://schemas.microsoft.com/office/drawing/2014/main" id="{0C699B9B-AFEE-B93A-2FEF-08FD133A0CD8}"/>
              </a:ext>
            </a:extLst>
          </p:cNvPr>
          <p:cNvSpPr>
            <a:spLocks noGrp="1"/>
          </p:cNvSpPr>
          <p:nvPr>
            <p:ph type="body" idx="1"/>
          </p:nvPr>
        </p:nvSpPr>
        <p:spPr>
          <a:xfrm>
            <a:off x="678820" y="1600200"/>
            <a:ext cx="10304227" cy="4355038"/>
          </a:xfrm>
        </p:spPr>
        <p:txBody>
          <a:bodyPr/>
          <a:lstStyle/>
          <a:p>
            <a:pPr algn="just">
              <a:lnSpc>
                <a:spcPct val="150000"/>
              </a:lnSpc>
            </a:pPr>
            <a:r>
              <a:rPr lang="en-US" sz="1800" b="0" dirty="0"/>
              <a:t>The training phase is essential as it determines the model's ability to generalize well to unseen data. Below, we detail the training process, performance metrics, and visualizations that illustrate the models' learning behavior.</a:t>
            </a:r>
          </a:p>
          <a:p>
            <a:pPr algn="just">
              <a:lnSpc>
                <a:spcPct val="150000"/>
              </a:lnSpc>
            </a:pPr>
            <a:endParaRPr lang="en-US" sz="1800" b="0" dirty="0"/>
          </a:p>
          <a:p>
            <a:r>
              <a:rPr lang="en-US" sz="2200" dirty="0">
                <a:latin typeface="Times New Roman" panose="02020603050405020304" pitchFamily="18" charset="0"/>
                <a:cs typeface="Times New Roman" panose="02020603050405020304" pitchFamily="18" charset="0"/>
              </a:rPr>
              <a:t>Training Process</a:t>
            </a:r>
          </a:p>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Frameworks Used:</a:t>
            </a:r>
            <a:r>
              <a:rPr lang="en-US" sz="1800" b="0" dirty="0">
                <a:latin typeface="Times New Roman" panose="02020603050405020304" pitchFamily="18" charset="0"/>
                <a:cs typeface="Times New Roman" panose="02020603050405020304" pitchFamily="18" charset="0"/>
              </a:rPr>
              <a:t> The models were implemented using </a:t>
            </a:r>
            <a:r>
              <a:rPr lang="en-US" sz="1800" dirty="0">
                <a:latin typeface="Times New Roman" panose="02020603050405020304" pitchFamily="18" charset="0"/>
                <a:cs typeface="Times New Roman" panose="02020603050405020304" pitchFamily="18" charset="0"/>
              </a:rPr>
              <a:t>TensorFlow</a:t>
            </a:r>
            <a:r>
              <a:rPr lang="en-US" sz="1800" b="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Keras</a:t>
            </a:r>
            <a:r>
              <a:rPr lang="en-US" sz="1800" b="0" dirty="0">
                <a:latin typeface="Times New Roman" panose="02020603050405020304" pitchFamily="18" charset="0"/>
                <a:cs typeface="Times New Roman" panose="02020603050405020304" pitchFamily="18" charset="0"/>
              </a:rPr>
              <a:t>, leveraging their capabilities for deep learning applications.</a:t>
            </a:r>
          </a:p>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Epochs:</a:t>
            </a:r>
            <a:r>
              <a:rPr lang="en-US" sz="1800" b="0" dirty="0">
                <a:latin typeface="Times New Roman" panose="02020603050405020304" pitchFamily="18" charset="0"/>
                <a:cs typeface="Times New Roman" panose="02020603050405020304" pitchFamily="18" charset="0"/>
              </a:rPr>
              <a:t> Each model was trained for a total of </a:t>
            </a:r>
            <a:r>
              <a:rPr lang="en-US" sz="1800" dirty="0">
                <a:latin typeface="Times New Roman" panose="02020603050405020304" pitchFamily="18" charset="0"/>
                <a:cs typeface="Times New Roman" panose="02020603050405020304" pitchFamily="18" charset="0"/>
              </a:rPr>
              <a:t>50 epochs</a:t>
            </a:r>
            <a:r>
              <a:rPr lang="en-US" sz="1800" b="0" dirty="0">
                <a:latin typeface="Times New Roman" panose="02020603050405020304" pitchFamily="18" charset="0"/>
                <a:cs typeface="Times New Roman" panose="02020603050405020304" pitchFamily="18" charset="0"/>
              </a:rPr>
              <a:t>. An epoch refers to one complete pass through the training dataset.</a:t>
            </a:r>
          </a:p>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Batch Size:</a:t>
            </a:r>
            <a:r>
              <a:rPr lang="en-US" sz="1800" b="0" dirty="0">
                <a:latin typeface="Times New Roman" panose="02020603050405020304" pitchFamily="18" charset="0"/>
                <a:cs typeface="Times New Roman" panose="02020603050405020304" pitchFamily="18" charset="0"/>
              </a:rPr>
              <a:t> A batch size of </a:t>
            </a:r>
            <a:r>
              <a:rPr lang="en-US" sz="1800" dirty="0">
                <a:latin typeface="Times New Roman" panose="02020603050405020304" pitchFamily="18" charset="0"/>
                <a:cs typeface="Times New Roman" panose="02020603050405020304" pitchFamily="18" charset="0"/>
              </a:rPr>
              <a:t>32</a:t>
            </a:r>
            <a:r>
              <a:rPr lang="en-US" sz="1800" b="0" dirty="0">
                <a:latin typeface="Times New Roman" panose="02020603050405020304" pitchFamily="18" charset="0"/>
                <a:cs typeface="Times New Roman" panose="02020603050405020304" pitchFamily="18" charset="0"/>
              </a:rPr>
              <a:t> was used. This means that the model updates its weights after processing every 32 samples, which balances memory efficiency and convergence speed.</a:t>
            </a:r>
          </a:p>
          <a:p>
            <a:pPr algn="just"/>
            <a:endParaRPr lang="en-US" sz="1800" b="0" dirty="0"/>
          </a:p>
        </p:txBody>
      </p:sp>
    </p:spTree>
    <p:extLst>
      <p:ext uri="{BB962C8B-B14F-4D97-AF65-F5344CB8AC3E}">
        <p14:creationId xmlns:p14="http://schemas.microsoft.com/office/powerpoint/2010/main" val="2287503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568A55A-4213-DD4C-213E-6ECB61C56950}"/>
              </a:ext>
            </a:extLst>
          </p:cNvPr>
          <p:cNvSpPr>
            <a:spLocks noGrp="1"/>
          </p:cNvSpPr>
          <p:nvPr>
            <p:ph type="body" idx="1"/>
          </p:nvPr>
        </p:nvSpPr>
        <p:spPr>
          <a:xfrm>
            <a:off x="609600" y="914400"/>
            <a:ext cx="10820400" cy="4520725"/>
          </a:xfrm>
        </p:spPr>
        <p:txBody>
          <a:bodyPr/>
          <a:lstStyle/>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Optimizer:</a:t>
            </a:r>
            <a:r>
              <a:rPr lang="en-US" sz="1800" b="0" dirty="0">
                <a:latin typeface="Times New Roman" panose="02020603050405020304" pitchFamily="18" charset="0"/>
                <a:cs typeface="Times New Roman" panose="02020603050405020304" pitchFamily="18" charset="0"/>
              </a:rPr>
              <a:t> The </a:t>
            </a:r>
            <a:r>
              <a:rPr lang="en-US" sz="1800" dirty="0">
                <a:latin typeface="Times New Roman" panose="02020603050405020304" pitchFamily="18" charset="0"/>
                <a:cs typeface="Times New Roman" panose="02020603050405020304" pitchFamily="18" charset="0"/>
              </a:rPr>
              <a:t>Adam optimizer</a:t>
            </a:r>
            <a:r>
              <a:rPr lang="en-US" sz="1800" b="0" dirty="0">
                <a:latin typeface="Times New Roman" panose="02020603050405020304" pitchFamily="18" charset="0"/>
                <a:cs typeface="Times New Roman" panose="02020603050405020304" pitchFamily="18" charset="0"/>
              </a:rPr>
              <a:t> was employed with a learning rate set to </a:t>
            </a:r>
            <a:r>
              <a:rPr lang="en-US" sz="1800" dirty="0">
                <a:latin typeface="Times New Roman" panose="02020603050405020304" pitchFamily="18" charset="0"/>
                <a:cs typeface="Times New Roman" panose="02020603050405020304" pitchFamily="18" charset="0"/>
              </a:rPr>
              <a:t>0.0001</a:t>
            </a:r>
            <a:r>
              <a:rPr lang="en-US" sz="1800" b="0" dirty="0">
                <a:latin typeface="Times New Roman" panose="02020603050405020304" pitchFamily="18" charset="0"/>
                <a:cs typeface="Times New Roman" panose="02020603050405020304" pitchFamily="18" charset="0"/>
              </a:rPr>
              <a:t>. Adam is favored for its adaptive learning rate properties, which help achieve faster convergence.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Loss Function:</a:t>
            </a:r>
            <a:r>
              <a:rPr lang="en-US" sz="1800" b="0" dirty="0">
                <a:latin typeface="Times New Roman" panose="02020603050405020304" pitchFamily="18" charset="0"/>
                <a:cs typeface="Times New Roman" panose="02020603050405020304" pitchFamily="18" charset="0"/>
              </a:rPr>
              <a:t> The </a:t>
            </a:r>
            <a:r>
              <a:rPr lang="en-US" sz="1800" dirty="0">
                <a:latin typeface="Times New Roman" panose="02020603050405020304" pitchFamily="18" charset="0"/>
                <a:cs typeface="Times New Roman" panose="02020603050405020304" pitchFamily="18" charset="0"/>
              </a:rPr>
              <a:t>categorical cross-entropy loss</a:t>
            </a:r>
            <a:r>
              <a:rPr lang="en-US" sz="1800" b="0" dirty="0">
                <a:latin typeface="Times New Roman" panose="02020603050405020304" pitchFamily="18" charset="0"/>
                <a:cs typeface="Times New Roman" panose="02020603050405020304" pitchFamily="18" charset="0"/>
              </a:rPr>
              <a:t> function was utilized, suitable for multi-class classification tasks.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Early Stopping:</a:t>
            </a:r>
            <a:r>
              <a:rPr lang="en-US" sz="1800" b="0" dirty="0">
                <a:latin typeface="Times New Roman" panose="02020603050405020304" pitchFamily="18" charset="0"/>
                <a:cs typeface="Times New Roman" panose="02020603050405020304" pitchFamily="18" charset="0"/>
              </a:rPr>
              <a:t> To prevent overfitting, early stopping was implemented based on validation loss. If the validation loss did not improve for a specified number of epochs, training was halted.</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Regularization Techniques:</a:t>
            </a:r>
            <a:endParaRPr lang="en-US" sz="1800" b="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Batch Normalization</a:t>
            </a:r>
            <a:r>
              <a:rPr lang="en-US" dirty="0">
                <a:latin typeface="Times New Roman" panose="02020603050405020304" pitchFamily="18" charset="0"/>
                <a:cs typeface="Times New Roman" panose="02020603050405020304" pitchFamily="18" charset="0"/>
              </a:rPr>
              <a:t>: Applied after each convolutional layer to stabilize and accelerate training.</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Dropout</a:t>
            </a:r>
            <a:r>
              <a:rPr lang="en-US" dirty="0">
                <a:latin typeface="Times New Roman" panose="02020603050405020304" pitchFamily="18" charset="0"/>
                <a:cs typeface="Times New Roman" panose="02020603050405020304" pitchFamily="18" charset="0"/>
              </a:rPr>
              <a:t>: A dropout rate of </a:t>
            </a:r>
            <a:r>
              <a:rPr lang="en-US" b="1"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was used during training to randomly deactivate neurons, helping to prevent overfitting.</a:t>
            </a:r>
          </a:p>
          <a:p>
            <a:pPr>
              <a:lnSpc>
                <a:spcPct val="15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690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611D7D-4470-0AEF-398B-26FC918FBF56}"/>
              </a:ext>
            </a:extLst>
          </p:cNvPr>
          <p:cNvSpPr>
            <a:spLocks noGrp="1"/>
          </p:cNvSpPr>
          <p:nvPr>
            <p:ph type="body" idx="1"/>
          </p:nvPr>
        </p:nvSpPr>
        <p:spPr>
          <a:xfrm>
            <a:off x="609600" y="914401"/>
            <a:ext cx="9829800" cy="4520725"/>
          </a:xfrm>
        </p:spPr>
        <p:txBody>
          <a:bodyPr/>
          <a:lstStyle/>
          <a:p>
            <a:pPr algn="just">
              <a:lnSpc>
                <a:spcPct val="150000"/>
              </a:lnSpc>
            </a:pPr>
            <a:r>
              <a:rPr lang="en-US" sz="2200" i="1" dirty="0">
                <a:latin typeface="Times New Roman" panose="02020603050405020304" pitchFamily="18" charset="0"/>
                <a:cs typeface="Times New Roman" panose="02020603050405020304" pitchFamily="18" charset="0"/>
              </a:rPr>
              <a:t>Performance Metrics:</a:t>
            </a:r>
          </a:p>
          <a:p>
            <a:pPr marL="285750" indent="-285750" algn="just">
              <a:lnSpc>
                <a:spcPct val="150000"/>
              </a:lnSpc>
              <a:buFont typeface="Arial" panose="020B0604020202020204" pitchFamily="34" charset="0"/>
              <a:buChar char="•"/>
            </a:pPr>
            <a:r>
              <a:rPr lang="en-US" sz="1800" b="0" dirty="0">
                <a:latin typeface="Times New Roman" panose="02020603050405020304" pitchFamily="18" charset="0"/>
                <a:cs typeface="Times New Roman" panose="02020603050405020304" pitchFamily="18" charset="0"/>
              </a:rPr>
              <a:t>To evaluate the models' performance during training, several key metrics were monitored:</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Accuracy</a:t>
            </a:r>
            <a:r>
              <a:rPr lang="en-US" sz="1800" b="0" dirty="0">
                <a:latin typeface="Times New Roman" panose="02020603050405020304" pitchFamily="18" charset="0"/>
                <a:cs typeface="Times New Roman" panose="02020603050405020304" pitchFamily="18" charset="0"/>
              </a:rPr>
              <a:t>: Measures the proportion of correctly classified instances among the total instances.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Precision</a:t>
            </a:r>
            <a:r>
              <a:rPr lang="en-US" sz="1800" b="0" dirty="0">
                <a:latin typeface="Times New Roman" panose="02020603050405020304" pitchFamily="18" charset="0"/>
                <a:cs typeface="Times New Roman" panose="02020603050405020304" pitchFamily="18" charset="0"/>
              </a:rPr>
              <a:t>: Indicates the accuracy of positive predictions. It is calculated as </a:t>
            </a:r>
            <a:r>
              <a:rPr lang="en-US" sz="1800" b="0" dirty="0"/>
              <a:t>Precision=</a:t>
            </a:r>
            <a:r>
              <a:rPr lang="en-US" sz="1800" b="0" i="1" dirty="0"/>
              <a:t>TP(TP+FP)</a:t>
            </a:r>
            <a:r>
              <a:rPr lang="en-US" b="0" dirty="0"/>
              <a:t>​.</a:t>
            </a:r>
            <a:endParaRPr lang="en-US" sz="18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Recall</a:t>
            </a:r>
            <a:r>
              <a:rPr lang="en-US" sz="1800" b="0" dirty="0">
                <a:latin typeface="Times New Roman" panose="02020603050405020304" pitchFamily="18" charset="0"/>
                <a:cs typeface="Times New Roman" panose="02020603050405020304" pitchFamily="18" charset="0"/>
              </a:rPr>
              <a:t>: Reflects the model's ability to find all relevant instances (true positives). It is calculated as: Recall= TP(TP+FN).</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F1-Score</a:t>
            </a:r>
            <a:r>
              <a:rPr lang="en-US" sz="1800" b="0" dirty="0">
                <a:latin typeface="Times New Roman" panose="02020603050405020304" pitchFamily="18" charset="0"/>
                <a:cs typeface="Times New Roman" panose="02020603050405020304" pitchFamily="18" charset="0"/>
              </a:rPr>
              <a:t>: The harmonic mean of precision and recall, providing a balance between the two metrics.  F1-Score=2×(Precision×Recall/Precision+Recall).</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Confusion Matrix</a:t>
            </a:r>
            <a:r>
              <a:rPr lang="en-US" sz="1800" b="0" dirty="0">
                <a:latin typeface="Times New Roman" panose="02020603050405020304" pitchFamily="18" charset="0"/>
                <a:cs typeface="Times New Roman" panose="02020603050405020304" pitchFamily="18" charset="0"/>
              </a:rPr>
              <a:t>: A matrix used to visualize the performance of the classification model, showing the true positives, false positives, true negatives, and false negatives for each class.</a:t>
            </a: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9220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2E5904-C7F6-905D-4E42-CB26F221C150}"/>
              </a:ext>
            </a:extLst>
          </p:cNvPr>
          <p:cNvSpPr>
            <a:spLocks noGrp="1"/>
          </p:cNvSpPr>
          <p:nvPr>
            <p:ph sz="half" idx="2"/>
          </p:nvPr>
        </p:nvSpPr>
        <p:spPr>
          <a:xfrm>
            <a:off x="609601" y="1165860"/>
            <a:ext cx="5303520" cy="4526280"/>
          </a:xfrm>
        </p:spPr>
        <p:txBody>
          <a:bodyPr wrap="square">
            <a:normAutofit fontScale="92500"/>
          </a:bodyPr>
          <a:lstStyle/>
          <a:p>
            <a:pPr>
              <a:spcAft>
                <a:spcPts val="600"/>
              </a:spcAft>
            </a:pPr>
            <a:r>
              <a:rPr lang="en-US" sz="2400" i="1" dirty="0"/>
              <a:t>Visualizations:</a:t>
            </a:r>
          </a:p>
          <a:p>
            <a:pPr>
              <a:spcAft>
                <a:spcPts val="600"/>
              </a:spcAft>
            </a:pPr>
            <a:r>
              <a:rPr lang="en-US" sz="1900" dirty="0"/>
              <a:t>Loss and Accuracy vs. Epochs for ResNet-50:-</a:t>
            </a:r>
            <a:endParaRPr lang="en-US" sz="1900" b="0" dirty="0"/>
          </a:p>
          <a:p>
            <a:pPr marL="285750" indent="-285750" algn="just">
              <a:lnSpc>
                <a:spcPct val="150000"/>
              </a:lnSpc>
              <a:spcAft>
                <a:spcPts val="600"/>
              </a:spcAft>
              <a:buFont typeface="Arial" panose="020B0604020202020204" pitchFamily="34" charset="0"/>
              <a:buChar char="•"/>
            </a:pPr>
            <a:r>
              <a:rPr lang="en-US" sz="1800" b="0" dirty="0"/>
              <a:t>The plot illustrates the training and validation loss over the epochs. Both training and validation losses show a downward trend, indicating that the model is learning effectively. The convergence of the two curves suggests minimal overfitting, as they remain closely aligned.</a:t>
            </a:r>
          </a:p>
          <a:p>
            <a:pPr marL="285750" indent="-285750" algn="just">
              <a:lnSpc>
                <a:spcPct val="150000"/>
              </a:lnSpc>
              <a:spcAft>
                <a:spcPts val="600"/>
              </a:spcAft>
              <a:buFont typeface="Arial" panose="020B0604020202020204" pitchFamily="34" charset="0"/>
              <a:buChar char="•"/>
            </a:pPr>
            <a:r>
              <a:rPr lang="en-US" sz="1800" b="0" dirty="0"/>
              <a:t>The corresponding accuracy plot shows a steady increase in both training and validation accuracy, with validation accuracy peaking at </a:t>
            </a:r>
            <a:r>
              <a:rPr lang="en-US" sz="1800" dirty="0"/>
              <a:t>89.1%</a:t>
            </a:r>
            <a:r>
              <a:rPr lang="en-US" sz="1800" b="0" dirty="0"/>
              <a:t> and training accuracy exceeding </a:t>
            </a:r>
            <a:r>
              <a:rPr lang="en-US" sz="1800" dirty="0"/>
              <a:t>90%</a:t>
            </a:r>
            <a:r>
              <a:rPr lang="en-US" sz="1800" b="0" dirty="0"/>
              <a:t> by the final epoch.</a:t>
            </a:r>
          </a:p>
          <a:p>
            <a:pPr marL="285750" indent="-285750">
              <a:spcAft>
                <a:spcPts val="600"/>
              </a:spcAft>
              <a:buFont typeface="Arial" panose="020B0604020202020204" pitchFamily="34" charset="0"/>
              <a:buChar char="•"/>
            </a:pPr>
            <a:endParaRPr lang="en-US" sz="1900" dirty="0"/>
          </a:p>
        </p:txBody>
      </p:sp>
      <p:pic>
        <p:nvPicPr>
          <p:cNvPr id="4" name="Picture 3" descr="A graph of a loss&#10;&#10;AI-generated content may be incorrect.">
            <a:extLst>
              <a:ext uri="{FF2B5EF4-FFF2-40B4-BE49-F238E27FC236}">
                <a16:creationId xmlns:a16="http://schemas.microsoft.com/office/drawing/2014/main" id="{520F7317-74E0-F0C5-98AC-08DDEEF93EBA}"/>
              </a:ext>
            </a:extLst>
          </p:cNvPr>
          <p:cNvPicPr>
            <a:picLocks noChangeAspect="1"/>
          </p:cNvPicPr>
          <p:nvPr/>
        </p:nvPicPr>
        <p:blipFill>
          <a:blip r:embed="rId2"/>
          <a:stretch>
            <a:fillRect/>
          </a:stretch>
        </p:blipFill>
        <p:spPr>
          <a:xfrm>
            <a:off x="6278880" y="2302460"/>
            <a:ext cx="5303520" cy="3076040"/>
          </a:xfrm>
          <a:prstGeom prst="rect">
            <a:avLst/>
          </a:prstGeom>
          <a:noFill/>
          <a:ln w="19050">
            <a:solidFill>
              <a:schemeClr val="tx1"/>
            </a:solidFill>
          </a:ln>
        </p:spPr>
      </p:pic>
    </p:spTree>
    <p:extLst>
      <p:ext uri="{BB962C8B-B14F-4D97-AF65-F5344CB8AC3E}">
        <p14:creationId xmlns:p14="http://schemas.microsoft.com/office/powerpoint/2010/main" val="628143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FCAAE5-6CB2-742E-AE5B-65A4BA3C78B4}"/>
              </a:ext>
            </a:extLst>
          </p:cNvPr>
          <p:cNvSpPr>
            <a:spLocks noGrp="1"/>
          </p:cNvSpPr>
          <p:nvPr>
            <p:ph sz="half" idx="2"/>
          </p:nvPr>
        </p:nvSpPr>
        <p:spPr>
          <a:xfrm>
            <a:off x="609600" y="1143000"/>
            <a:ext cx="5303520" cy="4960620"/>
          </a:xfrm>
        </p:spPr>
        <p:txBody>
          <a:bodyPr wrap="square">
            <a:normAutofit/>
          </a:bodyPr>
          <a:lstStyle/>
          <a:p>
            <a:pPr algn="just">
              <a:lnSpc>
                <a:spcPct val="150000"/>
              </a:lnSpc>
              <a:spcAft>
                <a:spcPts val="600"/>
              </a:spcAft>
            </a:pPr>
            <a:r>
              <a:rPr lang="en-US" sz="1800" dirty="0"/>
              <a:t>Accuracy Comparison between ResNet-50 and EfficientNet-B0:-</a:t>
            </a:r>
            <a:endParaRPr lang="en-US" sz="1800" b="0" dirty="0"/>
          </a:p>
          <a:p>
            <a:pPr marL="285750" indent="-285750" algn="just">
              <a:lnSpc>
                <a:spcPct val="150000"/>
              </a:lnSpc>
              <a:spcAft>
                <a:spcPts val="600"/>
              </a:spcAft>
              <a:buFont typeface="Arial" panose="020B0604020202020204" pitchFamily="34" charset="0"/>
              <a:buChar char="•"/>
            </a:pPr>
            <a:r>
              <a:rPr lang="en-US" sz="1800" b="0" dirty="0"/>
              <a:t>This figure compares the accuracy of both models over five epochs. It reveals that </a:t>
            </a:r>
            <a:r>
              <a:rPr lang="en-US" sz="1800" dirty="0"/>
              <a:t>EfficientNet-B0</a:t>
            </a:r>
            <a:r>
              <a:rPr lang="en-US" sz="1800" b="0" dirty="0"/>
              <a:t> achieves higher accuracy from the start due to its efficient architecture, reaching an accuracy of </a:t>
            </a:r>
            <a:r>
              <a:rPr lang="en-US" sz="1800" dirty="0"/>
              <a:t>0.91</a:t>
            </a:r>
            <a:r>
              <a:rPr lang="en-US" sz="1800" b="0" dirty="0"/>
              <a:t> by the fifth epoch. In contrast, </a:t>
            </a:r>
            <a:r>
              <a:rPr lang="en-US" sz="1800" dirty="0"/>
              <a:t>ResNet-50</a:t>
            </a:r>
            <a:r>
              <a:rPr lang="en-US" sz="1800" b="0" dirty="0"/>
              <a:t> shows a more gradual improvement, ultimately achieving a similar accuracy of </a:t>
            </a:r>
            <a:r>
              <a:rPr lang="en-US" sz="1800" dirty="0"/>
              <a:t>0.92</a:t>
            </a:r>
            <a:r>
              <a:rPr lang="en-US" sz="1800" b="0" dirty="0"/>
              <a:t>.</a:t>
            </a:r>
          </a:p>
          <a:p>
            <a:pPr marL="285750" indent="-285750" algn="just">
              <a:lnSpc>
                <a:spcPct val="150000"/>
              </a:lnSpc>
              <a:spcAft>
                <a:spcPts val="600"/>
              </a:spcAft>
              <a:buFont typeface="Arial" panose="020B0604020202020204" pitchFamily="34" charset="0"/>
              <a:buChar char="•"/>
            </a:pPr>
            <a:endParaRPr lang="en-US" sz="1800" dirty="0"/>
          </a:p>
        </p:txBody>
      </p:sp>
      <p:pic>
        <p:nvPicPr>
          <p:cNvPr id="4" name="Picture 3" descr="A graph with a blue line and orange line&#10;&#10;AI-generated content may be incorrect.">
            <a:extLst>
              <a:ext uri="{FF2B5EF4-FFF2-40B4-BE49-F238E27FC236}">
                <a16:creationId xmlns:a16="http://schemas.microsoft.com/office/drawing/2014/main" id="{69419FCC-507C-2E33-4BB8-9ADC43EEAE8D}"/>
              </a:ext>
            </a:extLst>
          </p:cNvPr>
          <p:cNvPicPr>
            <a:picLocks noChangeAspect="1"/>
          </p:cNvPicPr>
          <p:nvPr/>
        </p:nvPicPr>
        <p:blipFill>
          <a:blip r:embed="rId2"/>
          <a:stretch>
            <a:fillRect/>
          </a:stretch>
        </p:blipFill>
        <p:spPr>
          <a:xfrm>
            <a:off x="6278880" y="2256053"/>
            <a:ext cx="5303520" cy="3168853"/>
          </a:xfrm>
          <a:prstGeom prst="rect">
            <a:avLst/>
          </a:prstGeom>
          <a:noFill/>
          <a:ln w="19050">
            <a:solidFill>
              <a:schemeClr val="tx1"/>
            </a:solidFill>
          </a:ln>
        </p:spPr>
      </p:pic>
    </p:spTree>
    <p:extLst>
      <p:ext uri="{BB962C8B-B14F-4D97-AF65-F5344CB8AC3E}">
        <p14:creationId xmlns:p14="http://schemas.microsoft.com/office/powerpoint/2010/main" val="3677737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876DE-DB7E-3133-380B-15001C0250F0}"/>
              </a:ext>
            </a:extLst>
          </p:cNvPr>
          <p:cNvSpPr>
            <a:spLocks noGrp="1"/>
          </p:cNvSpPr>
          <p:nvPr>
            <p:ph type="title"/>
          </p:nvPr>
        </p:nvSpPr>
        <p:spPr>
          <a:xfrm>
            <a:off x="650541" y="658005"/>
            <a:ext cx="10304227" cy="904985"/>
          </a:xfrm>
        </p:spPr>
        <p:txBody>
          <a:bodyPr wrap="square" anchor="ctr">
            <a:normAutofit/>
          </a:bodyPr>
          <a:lstStyle/>
          <a:p>
            <a:r>
              <a:rPr lang="en-US" i="0" dirty="0"/>
              <a:t> </a:t>
            </a:r>
            <a:r>
              <a:rPr lang="en-US" dirty="0"/>
              <a:t>Streamlit Deployment:</a:t>
            </a:r>
          </a:p>
        </p:txBody>
      </p:sp>
      <p:sp>
        <p:nvSpPr>
          <p:cNvPr id="3" name="Content Placeholder 2">
            <a:extLst>
              <a:ext uri="{FF2B5EF4-FFF2-40B4-BE49-F238E27FC236}">
                <a16:creationId xmlns:a16="http://schemas.microsoft.com/office/drawing/2014/main" id="{7FBFB5CE-694B-3666-0534-3FCB257562B2}"/>
              </a:ext>
            </a:extLst>
          </p:cNvPr>
          <p:cNvSpPr>
            <a:spLocks noGrp="1"/>
          </p:cNvSpPr>
          <p:nvPr>
            <p:ph sz="half" idx="4294967295"/>
          </p:nvPr>
        </p:nvSpPr>
        <p:spPr>
          <a:xfrm>
            <a:off x="650541" y="1753490"/>
            <a:ext cx="10304227" cy="4352544"/>
          </a:xfrm>
        </p:spPr>
        <p:txBody>
          <a:bodyPr anchor="t">
            <a:normAutofit/>
          </a:bodyPr>
          <a:lstStyle/>
          <a:p>
            <a:pPr algn="just"/>
            <a:r>
              <a:rPr lang="en-US" sz="1800" b="0" dirty="0">
                <a:latin typeface="Times New Roman" panose="02020603050405020304" pitchFamily="18" charset="0"/>
                <a:cs typeface="Times New Roman" panose="02020603050405020304" pitchFamily="18" charset="0"/>
              </a:rPr>
              <a:t>A popular open-source framework for building web applications in Python. Streamlit allows for rapid development of interactive web applications, making it an excellent choice for deploying machine learning models and providing a user-friendly interface for end-users.</a:t>
            </a:r>
            <a:r>
              <a:rPr lang="en-US" sz="1800" dirty="0">
                <a:latin typeface="Times New Roman" panose="02020603050405020304" pitchFamily="18" charset="0"/>
                <a:cs typeface="Times New Roman" panose="02020603050405020304" pitchFamily="18" charset="0"/>
              </a:rPr>
              <a:t> </a:t>
            </a:r>
          </a:p>
          <a:p>
            <a:pPr algn="just">
              <a:lnSpc>
                <a:spcPct val="150000"/>
              </a:lnSpc>
            </a:pPr>
            <a:r>
              <a:rPr lang="en-US" sz="2200" dirty="0">
                <a:latin typeface="Times New Roman" panose="02020603050405020304" pitchFamily="18" charset="0"/>
                <a:cs typeface="Times New Roman" panose="02020603050405020304" pitchFamily="18" charset="0"/>
              </a:rPr>
              <a:t>Application Architecture</a:t>
            </a:r>
          </a:p>
          <a:p>
            <a:pPr algn="just">
              <a:lnSpc>
                <a:spcPct val="150000"/>
              </a:lnSpc>
            </a:pPr>
            <a:r>
              <a:rPr lang="en-US" sz="1800" b="0" dirty="0">
                <a:latin typeface="Times New Roman" panose="02020603050405020304" pitchFamily="18" charset="0"/>
                <a:cs typeface="Times New Roman" panose="02020603050405020304" pitchFamily="18" charset="0"/>
              </a:rPr>
              <a:t>The skin care recommender application consists of several components: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User Interface (UI)</a:t>
            </a:r>
            <a:r>
              <a:rPr lang="en-US" sz="1800" b="0" dirty="0">
                <a:latin typeface="Times New Roman" panose="02020603050405020304" pitchFamily="18" charset="0"/>
                <a:cs typeface="Times New Roman" panose="02020603050405020304" pitchFamily="18" charset="0"/>
              </a:rPr>
              <a:t>: A web-based interface where users can upload their facial images and receive personalized skincare recommendations based on their skin type.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Model Inference</a:t>
            </a:r>
            <a:r>
              <a:rPr lang="en-US" sz="1800" b="0" dirty="0">
                <a:latin typeface="Times New Roman" panose="02020603050405020304" pitchFamily="18" charset="0"/>
                <a:cs typeface="Times New Roman" panose="02020603050405020304" pitchFamily="18" charset="0"/>
              </a:rPr>
              <a:t>: The trained deep learning models (ResNet-50 and EfficientNet-B0) are loaded into the application to process user-uploaded images and predict skin types.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Recommendation Engine</a:t>
            </a:r>
            <a:r>
              <a:rPr lang="en-US" sz="1800" b="0" dirty="0">
                <a:latin typeface="Times New Roman" panose="02020603050405020304" pitchFamily="18" charset="0"/>
                <a:cs typeface="Times New Roman" panose="02020603050405020304" pitchFamily="18" charset="0"/>
              </a:rPr>
              <a:t>: Based on the predicted skin type, the application provides tailored skincare product recommendations.</a:t>
            </a:r>
          </a:p>
          <a:p>
            <a:pPr>
              <a:spcAft>
                <a:spcPts val="600"/>
              </a:spcAft>
            </a:pPr>
            <a:endParaRPr lang="en-US" dirty="0"/>
          </a:p>
        </p:txBody>
      </p:sp>
    </p:spTree>
    <p:extLst>
      <p:ext uri="{BB962C8B-B14F-4D97-AF65-F5344CB8AC3E}">
        <p14:creationId xmlns:p14="http://schemas.microsoft.com/office/powerpoint/2010/main" val="3662095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CC95069-1DEA-E169-345B-8B071E7B8DF3}"/>
              </a:ext>
            </a:extLst>
          </p:cNvPr>
          <p:cNvSpPr>
            <a:spLocks noGrp="1"/>
          </p:cNvSpPr>
          <p:nvPr>
            <p:ph sz="half" idx="2"/>
          </p:nvPr>
        </p:nvSpPr>
        <p:spPr>
          <a:xfrm>
            <a:off x="533400" y="914400"/>
            <a:ext cx="5303520" cy="5444054"/>
          </a:xfrm>
        </p:spPr>
        <p:txBody>
          <a:bodyPr/>
          <a:lstStyle/>
          <a:p>
            <a:pPr algn="just">
              <a:lnSpc>
                <a:spcPct val="150000"/>
              </a:lnSpc>
            </a:pPr>
            <a:r>
              <a:rPr lang="en-US" sz="2200" dirty="0">
                <a:latin typeface="Times New Roman" panose="02020603050405020304" pitchFamily="18" charset="0"/>
                <a:cs typeface="Times New Roman" panose="02020603050405020304" pitchFamily="18" charset="0"/>
              </a:rPr>
              <a:t>Key Features of the Application</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Image Upload</a:t>
            </a:r>
            <a:r>
              <a:rPr lang="en-US" sz="1800" b="0" dirty="0">
                <a:latin typeface="Times New Roman" panose="02020603050405020304" pitchFamily="18" charset="0"/>
                <a:cs typeface="Times New Roman" panose="02020603050405020304" pitchFamily="18" charset="0"/>
              </a:rPr>
              <a:t>: Users can upload their facial images through a simple file uploader widget.</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Skin Type Classification</a:t>
            </a:r>
            <a:r>
              <a:rPr lang="en-US" sz="1800" b="0" dirty="0">
                <a:latin typeface="Times New Roman" panose="02020603050405020304" pitchFamily="18" charset="0"/>
                <a:cs typeface="Times New Roman" panose="02020603050405020304" pitchFamily="18" charset="0"/>
              </a:rPr>
              <a:t>: The application processes the uploaded images using the trained models to classify the skin type as oily, dry, or normal.</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Product Recommendations</a:t>
            </a:r>
            <a:r>
              <a:rPr lang="en-US" sz="1800" b="0" dirty="0">
                <a:latin typeface="Times New Roman" panose="02020603050405020304" pitchFamily="18" charset="0"/>
                <a:cs typeface="Times New Roman" panose="02020603050405020304" pitchFamily="18" charset="0"/>
              </a:rPr>
              <a:t>: After classification, the application displays a list of recommended skincare products suitable for the identified skin type.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User-Friendly Interface</a:t>
            </a:r>
            <a:r>
              <a:rPr lang="en-US" sz="1800" b="0" dirty="0">
                <a:latin typeface="Times New Roman" panose="02020603050405020304" pitchFamily="18" charset="0"/>
                <a:cs typeface="Times New Roman" panose="02020603050405020304" pitchFamily="18" charset="0"/>
              </a:rPr>
              <a:t>: The application is designed to be intuitive, ensuring that users can navigate easily and understand the results.</a:t>
            </a: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pic>
        <p:nvPicPr>
          <p:cNvPr id="3" name="Content Placeholder 2" descr="A screenshot of a phone&#10;&#10;AI-generated content may be incorrect.">
            <a:extLst>
              <a:ext uri="{FF2B5EF4-FFF2-40B4-BE49-F238E27FC236}">
                <a16:creationId xmlns:a16="http://schemas.microsoft.com/office/drawing/2014/main" id="{FEF01A7A-B012-E028-8F43-BB76910695B7}"/>
              </a:ext>
            </a:extLst>
          </p:cNvPr>
          <p:cNvPicPr>
            <a:picLocks noGrp="1" noChangeAspect="1"/>
          </p:cNvPicPr>
          <p:nvPr>
            <p:ph sz="half" idx="3"/>
          </p:nvPr>
        </p:nvPicPr>
        <p:blipFill>
          <a:blip r:embed="rId2"/>
          <a:stretch>
            <a:fillRect/>
          </a:stretch>
        </p:blipFill>
        <p:spPr>
          <a:xfrm>
            <a:off x="6278563" y="2057400"/>
            <a:ext cx="5608637" cy="3200400"/>
          </a:xfrm>
          <a:prstGeom prst="rect">
            <a:avLst/>
          </a:prstGeom>
          <a:ln w="19050">
            <a:solidFill>
              <a:schemeClr val="tx1"/>
            </a:solidFill>
          </a:ln>
        </p:spPr>
      </p:pic>
    </p:spTree>
    <p:extLst>
      <p:ext uri="{BB962C8B-B14F-4D97-AF65-F5344CB8AC3E}">
        <p14:creationId xmlns:p14="http://schemas.microsoft.com/office/powerpoint/2010/main" val="3962659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541" y="658005"/>
            <a:ext cx="10304227" cy="807742"/>
          </a:xfrm>
          <a:prstGeom prst="rect">
            <a:avLst/>
          </a:prstGeom>
        </p:spPr>
        <p:txBody>
          <a:bodyPr vert="horz" wrap="square" lIns="0" tIns="312250" rIns="0" bIns="0" rtlCol="0">
            <a:spAutoFit/>
          </a:bodyPr>
          <a:lstStyle/>
          <a:p>
            <a:pPr marL="707390">
              <a:lnSpc>
                <a:spcPct val="100000"/>
              </a:lnSpc>
              <a:spcBef>
                <a:spcPts val="100"/>
              </a:spcBef>
            </a:pPr>
            <a:r>
              <a:rPr sz="3200" dirty="0"/>
              <a:t>Future</a:t>
            </a:r>
            <a:r>
              <a:rPr sz="3200" spc="-125" dirty="0"/>
              <a:t> </a:t>
            </a:r>
            <a:r>
              <a:rPr sz="3200" spc="-10" dirty="0"/>
              <a:t>Scope</a:t>
            </a:r>
            <a:r>
              <a:rPr lang="en-US" sz="3200" spc="-10" dirty="0"/>
              <a:t>:</a:t>
            </a:r>
            <a:endParaRPr sz="32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22</a:t>
            </a:fld>
            <a:endParaRPr spc="-25" dirty="0"/>
          </a:p>
        </p:txBody>
      </p:sp>
      <p:sp>
        <p:nvSpPr>
          <p:cNvPr id="3" name="object 3"/>
          <p:cNvSpPr txBox="1"/>
          <p:nvPr/>
        </p:nvSpPr>
        <p:spPr>
          <a:xfrm>
            <a:off x="1076777" y="1797941"/>
            <a:ext cx="9992360" cy="4883388"/>
          </a:xfrm>
          <a:prstGeom prst="rect">
            <a:avLst/>
          </a:prstGeom>
        </p:spPr>
        <p:txBody>
          <a:bodyPr vert="horz" wrap="square" lIns="0" tIns="12700" rIns="0" bIns="0" rtlCol="0">
            <a:spAutoFit/>
          </a:bodyPr>
          <a:lstStyle/>
          <a:p>
            <a:pPr marL="355600" marR="288290" indent="-342900" algn="just">
              <a:lnSpc>
                <a:spcPct val="150000"/>
              </a:lnSpc>
              <a:spcBef>
                <a:spcPts val="100"/>
              </a:spcBef>
              <a:buFont typeface="Arial" panose="020B0604020202020204" pitchFamily="34" charset="0"/>
              <a:buChar char="•"/>
              <a:tabLst>
                <a:tab pos="147955" algn="l"/>
              </a:tabLst>
            </a:pPr>
            <a:r>
              <a:rPr lang="en-US" b="1" dirty="0">
                <a:latin typeface="Times New Roman" panose="02020603050405020304" pitchFamily="18" charset="0"/>
                <a:cs typeface="Times New Roman" panose="02020603050405020304" pitchFamily="18" charset="0"/>
              </a:rPr>
              <a:t>User Profiles</a:t>
            </a:r>
            <a:r>
              <a:rPr lang="en-US" dirty="0">
                <a:latin typeface="Times New Roman" panose="02020603050405020304" pitchFamily="18" charset="0"/>
                <a:cs typeface="Times New Roman" panose="02020603050405020304" pitchFamily="18" charset="0"/>
              </a:rPr>
              <a:t>: Implement user accounts that allow individuals to create profiles, saving their skin type history and product preferences. This would enable personalized recommendations over time</a:t>
            </a:r>
            <a:r>
              <a:rPr spc="-10" dirty="0">
                <a:latin typeface="Times New Roman" panose="02020603050405020304" pitchFamily="18" charset="0"/>
                <a:cs typeface="Times New Roman" panose="02020603050405020304" pitchFamily="18" charset="0"/>
              </a:rPr>
              <a:t>.</a:t>
            </a:r>
            <a:r>
              <a:rPr lang="en-US" spc="-10"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of User Reviews</a:t>
            </a:r>
            <a:r>
              <a:rPr lang="en-US" dirty="0">
                <a:latin typeface="Times New Roman" panose="02020603050405020304" pitchFamily="18" charset="0"/>
                <a:cs typeface="Times New Roman" panose="02020603050405020304" pitchFamily="18" charset="0"/>
              </a:rPr>
              <a:t>: Utilize product reviews and ratings from external databases (e.g., Sephora, Amazon) to inform recommendations and provide richer context for each product.</a:t>
            </a:r>
          </a:p>
          <a:p>
            <a:pPr marL="358775" indent="-358775"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Wearable Device Integration</a:t>
            </a:r>
            <a:r>
              <a:rPr lang="en-US" dirty="0">
                <a:latin typeface="Times New Roman" panose="02020603050405020304" pitchFamily="18" charset="0"/>
                <a:cs typeface="Times New Roman" panose="02020603050405020304" pitchFamily="18" charset="0"/>
              </a:rPr>
              <a:t>: Explore partnerships with wearable technology (e.g., smartwatches) to gather data on environmental factors (UV exposure, humidity) that can affect skin health, allowing for real-time recommendations.</a:t>
            </a:r>
          </a:p>
          <a:p>
            <a:pPr marL="358775" indent="-358775"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Visual Analysis</a:t>
            </a:r>
            <a:r>
              <a:rPr lang="en-US" dirty="0">
                <a:latin typeface="Times New Roman" panose="02020603050405020304" pitchFamily="18" charset="0"/>
                <a:cs typeface="Times New Roman" panose="02020603050405020304" pitchFamily="18" charset="0"/>
              </a:rPr>
              <a:t>: Implement advanced image processing techniques, such as facial analysis, to provide more accurate assessments of skin conditions (e.g., detecting acne, redness).</a:t>
            </a:r>
            <a:endParaRPr lang="en-US" sz="1900" dirty="0">
              <a:latin typeface="Times New Roman"/>
              <a:cs typeface="Times New Roman"/>
            </a:endParaRPr>
          </a:p>
          <a:p>
            <a:pPr marL="358775" indent="-358775"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Web-Based Dashboard</a:t>
            </a:r>
            <a:r>
              <a:rPr lang="en-US" dirty="0">
                <a:latin typeface="Times New Roman" panose="02020603050405020304" pitchFamily="18" charset="0"/>
                <a:cs typeface="Times New Roman" panose="02020603050405020304" pitchFamily="18" charset="0"/>
              </a:rPr>
              <a:t>: Create a web dashboard for users to access their profiles, track skin conditions, and manage preferences from any device.</a:t>
            </a:r>
          </a:p>
          <a:p>
            <a:pPr marL="358775" indent="-358775">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50727" y="2466823"/>
            <a:ext cx="8685530" cy="1040765"/>
          </a:xfrm>
          <a:prstGeom prst="rect">
            <a:avLst/>
          </a:prstGeom>
        </p:spPr>
        <p:txBody>
          <a:bodyPr vert="horz" wrap="square" lIns="0" tIns="43815" rIns="0" bIns="0" rtlCol="0">
            <a:spAutoFit/>
          </a:bodyPr>
          <a:lstStyle/>
          <a:p>
            <a:pPr marL="104775" marR="95250" algn="ctr">
              <a:lnSpc>
                <a:spcPts val="1939"/>
              </a:lnSpc>
              <a:spcBef>
                <a:spcPts val="345"/>
              </a:spcBef>
            </a:pPr>
            <a:r>
              <a:rPr sz="1800" spc="-10" dirty="0">
                <a:latin typeface="Times New Roman"/>
                <a:cs typeface="Times New Roman"/>
              </a:rPr>
              <a:t>This</a:t>
            </a:r>
            <a:r>
              <a:rPr sz="1800" spc="-105" dirty="0">
                <a:latin typeface="Times New Roman"/>
                <a:cs typeface="Times New Roman"/>
              </a:rPr>
              <a:t> </a:t>
            </a:r>
            <a:r>
              <a:rPr sz="1800" spc="-10" dirty="0">
                <a:latin typeface="Times New Roman"/>
                <a:cs typeface="Times New Roman"/>
              </a:rPr>
              <a:t>AI-</a:t>
            </a:r>
            <a:r>
              <a:rPr sz="1800" dirty="0">
                <a:latin typeface="Times New Roman"/>
                <a:cs typeface="Times New Roman"/>
              </a:rPr>
              <a:t>powered</a:t>
            </a:r>
            <a:r>
              <a:rPr sz="1800" spc="-75" dirty="0">
                <a:latin typeface="Times New Roman"/>
                <a:cs typeface="Times New Roman"/>
              </a:rPr>
              <a:t> </a:t>
            </a:r>
            <a:r>
              <a:rPr sz="1800" dirty="0">
                <a:latin typeface="Times New Roman"/>
                <a:cs typeface="Times New Roman"/>
              </a:rPr>
              <a:t>solution</a:t>
            </a:r>
            <a:r>
              <a:rPr sz="1800" spc="-45" dirty="0">
                <a:latin typeface="Times New Roman"/>
                <a:cs typeface="Times New Roman"/>
              </a:rPr>
              <a:t> </a:t>
            </a:r>
            <a:r>
              <a:rPr sz="1800" dirty="0">
                <a:latin typeface="Times New Roman"/>
                <a:cs typeface="Times New Roman"/>
              </a:rPr>
              <a:t>enables</a:t>
            </a:r>
            <a:r>
              <a:rPr sz="1800" spc="-50" dirty="0">
                <a:latin typeface="Times New Roman"/>
                <a:cs typeface="Times New Roman"/>
              </a:rPr>
              <a:t> </a:t>
            </a:r>
            <a:r>
              <a:rPr sz="1800" spc="-10" dirty="0">
                <a:latin typeface="Times New Roman"/>
                <a:cs typeface="Times New Roman"/>
              </a:rPr>
              <a:t>marketers</a:t>
            </a:r>
            <a:r>
              <a:rPr sz="1800" spc="-50"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predict</a:t>
            </a:r>
            <a:r>
              <a:rPr sz="1800" spc="-50" dirty="0">
                <a:latin typeface="Times New Roman"/>
                <a:cs typeface="Times New Roman"/>
              </a:rPr>
              <a:t> </a:t>
            </a:r>
            <a:r>
              <a:rPr sz="1800" dirty="0">
                <a:latin typeface="Times New Roman"/>
                <a:cs typeface="Times New Roman"/>
              </a:rPr>
              <a:t>campaign</a:t>
            </a:r>
            <a:r>
              <a:rPr sz="1800" spc="-45" dirty="0">
                <a:latin typeface="Times New Roman"/>
                <a:cs typeface="Times New Roman"/>
              </a:rPr>
              <a:t> </a:t>
            </a:r>
            <a:r>
              <a:rPr sz="1800" dirty="0">
                <a:latin typeface="Times New Roman"/>
                <a:cs typeface="Times New Roman"/>
              </a:rPr>
              <a:t>success,</a:t>
            </a:r>
            <a:r>
              <a:rPr sz="1800" spc="-45" dirty="0">
                <a:latin typeface="Times New Roman"/>
                <a:cs typeface="Times New Roman"/>
              </a:rPr>
              <a:t> </a:t>
            </a:r>
            <a:r>
              <a:rPr sz="1800" dirty="0">
                <a:latin typeface="Times New Roman"/>
                <a:cs typeface="Times New Roman"/>
              </a:rPr>
              <a:t>analyze</a:t>
            </a:r>
            <a:r>
              <a:rPr sz="1800" spc="-50" dirty="0">
                <a:latin typeface="Times New Roman"/>
                <a:cs typeface="Times New Roman"/>
              </a:rPr>
              <a:t> </a:t>
            </a:r>
            <a:r>
              <a:rPr sz="1800" spc="-10" dirty="0">
                <a:latin typeface="Times New Roman"/>
                <a:cs typeface="Times New Roman"/>
              </a:rPr>
              <a:t>sentiment, </a:t>
            </a:r>
            <a:r>
              <a:rPr sz="1800" dirty="0">
                <a:latin typeface="Times New Roman"/>
                <a:cs typeface="Times New Roman"/>
              </a:rPr>
              <a:t>allocate</a:t>
            </a:r>
            <a:r>
              <a:rPr sz="1800" spc="-65" dirty="0">
                <a:latin typeface="Times New Roman"/>
                <a:cs typeface="Times New Roman"/>
              </a:rPr>
              <a:t> </a:t>
            </a:r>
            <a:r>
              <a:rPr sz="1800" dirty="0">
                <a:latin typeface="Times New Roman"/>
                <a:cs typeface="Times New Roman"/>
              </a:rPr>
              <a:t>budgets</a:t>
            </a:r>
            <a:r>
              <a:rPr sz="1800" spc="-65" dirty="0">
                <a:latin typeface="Times New Roman"/>
                <a:cs typeface="Times New Roman"/>
              </a:rPr>
              <a:t> </a:t>
            </a:r>
            <a:r>
              <a:rPr sz="1800" spc="-10" dirty="0">
                <a:latin typeface="Times New Roman"/>
                <a:cs typeface="Times New Roman"/>
              </a:rPr>
              <a:t>smartly,</a:t>
            </a:r>
            <a:r>
              <a:rPr sz="1800" spc="-60" dirty="0">
                <a:latin typeface="Times New Roman"/>
                <a:cs typeface="Times New Roman"/>
              </a:rPr>
              <a:t> </a:t>
            </a:r>
            <a:r>
              <a:rPr sz="1800" dirty="0">
                <a:latin typeface="Times New Roman"/>
                <a:cs typeface="Times New Roman"/>
              </a:rPr>
              <a:t>and</a:t>
            </a:r>
            <a:r>
              <a:rPr sz="1800" spc="-60" dirty="0">
                <a:latin typeface="Times New Roman"/>
                <a:cs typeface="Times New Roman"/>
              </a:rPr>
              <a:t> </a:t>
            </a:r>
            <a:r>
              <a:rPr sz="1800" dirty="0">
                <a:latin typeface="Times New Roman"/>
                <a:cs typeface="Times New Roman"/>
              </a:rPr>
              <a:t>make</a:t>
            </a:r>
            <a:r>
              <a:rPr sz="1800" spc="-65" dirty="0">
                <a:latin typeface="Times New Roman"/>
                <a:cs typeface="Times New Roman"/>
              </a:rPr>
              <a:t> </a:t>
            </a:r>
            <a:r>
              <a:rPr sz="1800" dirty="0">
                <a:latin typeface="Times New Roman"/>
                <a:cs typeface="Times New Roman"/>
              </a:rPr>
              <a:t>decisions</a:t>
            </a:r>
            <a:r>
              <a:rPr sz="1800" spc="-65" dirty="0">
                <a:latin typeface="Times New Roman"/>
                <a:cs typeface="Times New Roman"/>
              </a:rPr>
              <a:t> </a:t>
            </a:r>
            <a:r>
              <a:rPr sz="1800" dirty="0">
                <a:latin typeface="Times New Roman"/>
                <a:cs typeface="Times New Roman"/>
              </a:rPr>
              <a:t>via</a:t>
            </a:r>
            <a:r>
              <a:rPr sz="1800" spc="-60" dirty="0">
                <a:latin typeface="Times New Roman"/>
                <a:cs typeface="Times New Roman"/>
              </a:rPr>
              <a:t> </a:t>
            </a:r>
            <a:r>
              <a:rPr sz="1800" dirty="0">
                <a:latin typeface="Times New Roman"/>
                <a:cs typeface="Times New Roman"/>
              </a:rPr>
              <a:t>a</a:t>
            </a:r>
            <a:r>
              <a:rPr sz="1800" spc="-65" dirty="0">
                <a:latin typeface="Times New Roman"/>
                <a:cs typeface="Times New Roman"/>
              </a:rPr>
              <a:t> </a:t>
            </a:r>
            <a:r>
              <a:rPr sz="1800" dirty="0">
                <a:latin typeface="Times New Roman"/>
                <a:cs typeface="Times New Roman"/>
              </a:rPr>
              <a:t>powerful</a:t>
            </a:r>
            <a:r>
              <a:rPr sz="1800" spc="-65" dirty="0">
                <a:latin typeface="Times New Roman"/>
                <a:cs typeface="Times New Roman"/>
              </a:rPr>
              <a:t> </a:t>
            </a:r>
            <a:r>
              <a:rPr sz="1800" spc="-10" dirty="0">
                <a:latin typeface="Times New Roman"/>
                <a:cs typeface="Times New Roman"/>
              </a:rPr>
              <a:t>dashboard.</a:t>
            </a:r>
            <a:endParaRPr sz="1800">
              <a:latin typeface="Times New Roman"/>
              <a:cs typeface="Times New Roman"/>
            </a:endParaRPr>
          </a:p>
          <a:p>
            <a:pPr marL="12700" marR="5080" algn="ctr">
              <a:lnSpc>
                <a:spcPts val="1939"/>
              </a:lnSpc>
              <a:spcBef>
                <a:spcPts val="10"/>
              </a:spcBef>
            </a:pPr>
            <a:r>
              <a:rPr sz="1800" dirty="0">
                <a:latin typeface="Times New Roman"/>
                <a:cs typeface="Times New Roman"/>
              </a:rPr>
              <a:t>It</a:t>
            </a:r>
            <a:r>
              <a:rPr sz="1800" spc="-50" dirty="0">
                <a:latin typeface="Times New Roman"/>
                <a:cs typeface="Times New Roman"/>
              </a:rPr>
              <a:t> </a:t>
            </a:r>
            <a:r>
              <a:rPr sz="1800" spc="-10" dirty="0">
                <a:latin typeface="Times New Roman"/>
                <a:cs typeface="Times New Roman"/>
              </a:rPr>
              <a:t>automates</a:t>
            </a:r>
            <a:r>
              <a:rPr sz="1800" spc="-50"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augments</a:t>
            </a:r>
            <a:r>
              <a:rPr sz="1800" spc="-50" dirty="0">
                <a:latin typeface="Times New Roman"/>
                <a:cs typeface="Times New Roman"/>
              </a:rPr>
              <a:t> </a:t>
            </a:r>
            <a:r>
              <a:rPr sz="1800" spc="-10" dirty="0">
                <a:latin typeface="Times New Roman"/>
                <a:cs typeface="Times New Roman"/>
              </a:rPr>
              <a:t>traditional</a:t>
            </a:r>
            <a:r>
              <a:rPr sz="1800" spc="-50" dirty="0">
                <a:latin typeface="Times New Roman"/>
                <a:cs typeface="Times New Roman"/>
              </a:rPr>
              <a:t> </a:t>
            </a:r>
            <a:r>
              <a:rPr sz="1800" dirty="0">
                <a:latin typeface="Times New Roman"/>
                <a:cs typeface="Times New Roman"/>
              </a:rPr>
              <a:t>marketing</a:t>
            </a:r>
            <a:r>
              <a:rPr sz="1800" spc="-40" dirty="0">
                <a:latin typeface="Times New Roman"/>
                <a:cs typeface="Times New Roman"/>
              </a:rPr>
              <a:t> </a:t>
            </a:r>
            <a:r>
              <a:rPr sz="1800" dirty="0">
                <a:latin typeface="Times New Roman"/>
                <a:cs typeface="Times New Roman"/>
              </a:rPr>
              <a:t>using</a:t>
            </a:r>
            <a:r>
              <a:rPr sz="1800" spc="-45" dirty="0">
                <a:latin typeface="Times New Roman"/>
                <a:cs typeface="Times New Roman"/>
              </a:rPr>
              <a:t> </a:t>
            </a:r>
            <a:r>
              <a:rPr sz="1800" dirty="0">
                <a:latin typeface="Times New Roman"/>
                <a:cs typeface="Times New Roman"/>
              </a:rPr>
              <a:t>machine</a:t>
            </a:r>
            <a:r>
              <a:rPr sz="1800" spc="-50" dirty="0">
                <a:latin typeface="Times New Roman"/>
                <a:cs typeface="Times New Roman"/>
              </a:rPr>
              <a:t> </a:t>
            </a:r>
            <a:r>
              <a:rPr sz="1800" dirty="0">
                <a:latin typeface="Times New Roman"/>
                <a:cs typeface="Times New Roman"/>
              </a:rPr>
              <a:t>learning</a:t>
            </a:r>
            <a:r>
              <a:rPr sz="1800" spc="-4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data</a:t>
            </a:r>
            <a:r>
              <a:rPr sz="1800" spc="-50" dirty="0">
                <a:latin typeface="Times New Roman"/>
                <a:cs typeface="Times New Roman"/>
              </a:rPr>
              <a:t> </a:t>
            </a:r>
            <a:r>
              <a:rPr sz="1800" spc="-10" dirty="0">
                <a:latin typeface="Times New Roman"/>
                <a:cs typeface="Times New Roman"/>
              </a:rPr>
              <a:t>visualization techniques.</a:t>
            </a:r>
            <a:endParaRPr sz="18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23</a:t>
            </a:fld>
            <a:endParaRPr spc="-25" dirty="0"/>
          </a:p>
        </p:txBody>
      </p:sp>
      <p:sp>
        <p:nvSpPr>
          <p:cNvPr id="3" name="object 3"/>
          <p:cNvSpPr txBox="1">
            <a:spLocks noGrp="1"/>
          </p:cNvSpPr>
          <p:nvPr>
            <p:ph type="title"/>
          </p:nvPr>
        </p:nvSpPr>
        <p:spPr>
          <a:xfrm>
            <a:off x="650541" y="658005"/>
            <a:ext cx="10304227" cy="821289"/>
          </a:xfrm>
          <a:prstGeom prst="rect">
            <a:avLst/>
          </a:prstGeom>
        </p:spPr>
        <p:txBody>
          <a:bodyPr vert="horz" wrap="square" lIns="0" tIns="310426" rIns="0" bIns="0" rtlCol="0">
            <a:spAutoFit/>
          </a:bodyPr>
          <a:lstStyle/>
          <a:p>
            <a:pPr marL="4385310">
              <a:lnSpc>
                <a:spcPct val="100000"/>
              </a:lnSpc>
              <a:spcBef>
                <a:spcPts val="100"/>
              </a:spcBef>
            </a:pPr>
            <a:r>
              <a:rPr spc="-10" dirty="0"/>
              <a:t>Conclusion</a:t>
            </a:r>
            <a:r>
              <a:rPr lang="en-US" spc="-10" dirty="0"/>
              <a:t>:</a:t>
            </a:r>
            <a:endParaRPr spc="-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6BB6A-BA2B-EC6F-5294-6A7D3C1AAA10}"/>
              </a:ext>
            </a:extLst>
          </p:cNvPr>
          <p:cNvSpPr>
            <a:spLocks noGrp="1"/>
          </p:cNvSpPr>
          <p:nvPr>
            <p:ph type="title"/>
          </p:nvPr>
        </p:nvSpPr>
        <p:spPr>
          <a:xfrm>
            <a:off x="653589" y="914400"/>
            <a:ext cx="10304227" cy="430887"/>
          </a:xfrm>
        </p:spPr>
        <p:txBody>
          <a:bodyPr/>
          <a:lstStyle/>
          <a:p>
            <a:r>
              <a:rPr lang="en-US" sz="2800" cap="small" dirty="0"/>
              <a:t>References:</a:t>
            </a:r>
            <a:endParaRPr lang="en-US" sz="2800" dirty="0"/>
          </a:p>
        </p:txBody>
      </p:sp>
      <p:sp>
        <p:nvSpPr>
          <p:cNvPr id="3" name="Text Placeholder 2">
            <a:extLst>
              <a:ext uri="{FF2B5EF4-FFF2-40B4-BE49-F238E27FC236}">
                <a16:creationId xmlns:a16="http://schemas.microsoft.com/office/drawing/2014/main" id="{6AF1386F-D9E3-E381-CC7D-1CB80B198DA5}"/>
              </a:ext>
            </a:extLst>
          </p:cNvPr>
          <p:cNvSpPr>
            <a:spLocks noGrp="1"/>
          </p:cNvSpPr>
          <p:nvPr>
            <p:ph type="body" idx="1"/>
          </p:nvPr>
        </p:nvSpPr>
        <p:spPr>
          <a:xfrm>
            <a:off x="650541" y="1828800"/>
            <a:ext cx="11160459" cy="4431983"/>
          </a:xfrm>
        </p:spPr>
        <p:txBody>
          <a:bodyPr/>
          <a:lstStyle/>
          <a:p>
            <a:pPr marL="342900" indent="-342900">
              <a:buFont typeface="Arial" panose="020B0604020202020204" pitchFamily="34" charset="0"/>
              <a:buChar char="•"/>
            </a:pPr>
            <a:r>
              <a:rPr lang="en-US" sz="1800" b="0" dirty="0"/>
              <a:t>There are 60+ references</a:t>
            </a:r>
          </a:p>
          <a:p>
            <a:pPr marL="342900" indent="-342900" algn="just">
              <a:buFont typeface="Arial" panose="020B0604020202020204" pitchFamily="34" charset="0"/>
              <a:buChar char="•"/>
            </a:pPr>
            <a:r>
              <a:rPr lang="en-US" b="0" dirty="0"/>
              <a:t>C. Zeng et al., “Deep Learning for MS Lesion Segmentation,” Frontiers in Neuroinformatics, vol. 14, 2020.</a:t>
            </a:r>
          </a:p>
          <a:p>
            <a:pPr marL="342900" indent="-342900" algn="just">
              <a:buFont typeface="Arial" panose="020B0604020202020204" pitchFamily="34" charset="0"/>
              <a:buChar char="•"/>
            </a:pPr>
            <a:r>
              <a:rPr lang="en-US" b="0" dirty="0"/>
              <a:t>[23]	P. Schwab and W. Karlen, “A Deep Learning Approach to Diagnosing Multiple Sclerosis from Smartphone Data,” IEEE J Biomed Health Inform, vol. 25, no. 4, pp. 1284–1291, 2021.</a:t>
            </a:r>
          </a:p>
          <a:p>
            <a:pPr marL="342900" indent="-342900" algn="just">
              <a:buFont typeface="Arial" panose="020B0604020202020204" pitchFamily="34" charset="0"/>
              <a:buChar char="•"/>
            </a:pPr>
            <a:r>
              <a:rPr lang="en-US" b="0" dirty="0"/>
              <a:t>[21]	T. Thakur, I. Batra, and A. Malik, “A Comparative Analysis of ML and DL Models for Gene Expression,” Proc. ICCS, pp. 139–142, 2021</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2173762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2">
            <a:extLst>
              <a:ext uri="{FF2B5EF4-FFF2-40B4-BE49-F238E27FC236}">
                <a16:creationId xmlns:a16="http://schemas.microsoft.com/office/drawing/2014/main" id="{6A690E1B-7CB9-BFEF-139B-B211DA4C820C}"/>
              </a:ext>
            </a:extLst>
          </p:cNvPr>
          <p:cNvSpPr>
            <a:spLocks noGrp="1"/>
          </p:cNvSpPr>
          <p:nvPr>
            <p:ph type="subTitle" idx="4"/>
          </p:nvPr>
        </p:nvSpPr>
        <p:spPr>
          <a:xfrm>
            <a:off x="1828800" y="2743200"/>
            <a:ext cx="8534400" cy="646331"/>
          </a:xfrm>
        </p:spPr>
        <p:txBody>
          <a:bodyPr/>
          <a:lstStyle/>
          <a:p>
            <a:pPr algn="ctr"/>
            <a:r>
              <a:rPr lang="en-US" sz="4200" dirty="0">
                <a:latin typeface="Times New Roman" panose="02020603050405020304" pitchFamily="18" charset="0"/>
                <a:cs typeface="Times New Roman" panose="02020603050405020304" pitchFamily="18" charset="0"/>
              </a:rPr>
              <a:t>THANK YOU</a:t>
            </a:r>
          </a:p>
        </p:txBody>
      </p:sp>
      <p:sp>
        <p:nvSpPr>
          <p:cNvPr id="8" name="object 8" hidden="1"/>
          <p:cNvSpPr txBox="1">
            <a:spLocks noGrp="1"/>
          </p:cNvSpPr>
          <p:nvPr>
            <p:ph type="sldNum" sz="quarter" idx="7"/>
          </p:nvPr>
        </p:nvSpPr>
        <p:spPr>
          <a:xfrm>
            <a:off x="11139512" y="6481635"/>
            <a:ext cx="179704" cy="128240"/>
          </a:xfrm>
          <a:prstGeom prst="rect">
            <a:avLst/>
          </a:prstGeom>
        </p:spPr>
        <p:txBody>
          <a:bodyPr vert="horz" wrap="square" lIns="0" tIns="0" rIns="0" bIns="0" rtlCol="0">
            <a:spAutoFit/>
          </a:bodyPr>
          <a:lstStyle/>
          <a:p>
            <a:pPr marL="12700">
              <a:lnSpc>
                <a:spcPts val="955"/>
              </a:lnSpc>
              <a:spcAft>
                <a:spcPts val="600"/>
              </a:spcAft>
            </a:pPr>
            <a:fld id="{81D60167-4931-47E6-BA6A-407CBD079E47}" type="slidenum">
              <a:rPr spc="-25" dirty="0"/>
              <a:pPr marL="12700">
                <a:lnSpc>
                  <a:spcPts val="955"/>
                </a:lnSpc>
                <a:spcAft>
                  <a:spcPts val="600"/>
                </a:spcAft>
              </a:pPr>
              <a:t>25</a:t>
            </a:fld>
            <a:endParaRPr lang="en-US" spc="-25"/>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5380</TotalTime>
  <Words>2449</Words>
  <Application>Microsoft Office PowerPoint</Application>
  <PresentationFormat>Widescreen</PresentationFormat>
  <Paragraphs>237</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Arial MT</vt:lpstr>
      <vt:lpstr>Calibri</vt:lpstr>
      <vt:lpstr>Times New Roman</vt:lpstr>
      <vt:lpstr>Office Theme</vt:lpstr>
      <vt:lpstr>Smart Dermatology: Enhancing Skin  Type Identification and Product Recommendation using Computer Vision</vt:lpstr>
      <vt:lpstr>PRESENTATION OUTLINE:</vt:lpstr>
      <vt:lpstr>Introduction: The Need for AI in Skin Care Recommendation</vt:lpstr>
      <vt:lpstr>Project Aim:</vt:lpstr>
      <vt:lpstr>Problem Statement:</vt:lpstr>
      <vt:lpstr>Literature Review:</vt:lpstr>
      <vt:lpstr>PowerPoint Presentation</vt:lpstr>
      <vt:lpstr>Project Objectives:</vt:lpstr>
      <vt:lpstr>PowerPoint Presentation</vt:lpstr>
      <vt:lpstr>Quantitative Analysis:</vt:lpstr>
      <vt:lpstr>PowerPoint Presentation</vt:lpstr>
      <vt:lpstr>PowerPoint Presentation</vt:lpstr>
      <vt:lpstr>Results and Discussion:</vt:lpstr>
      <vt:lpstr>PowerPoint Presentation</vt:lpstr>
      <vt:lpstr>Training Performance: </vt:lpstr>
      <vt:lpstr>PowerPoint Presentation</vt:lpstr>
      <vt:lpstr>PowerPoint Presentation</vt:lpstr>
      <vt:lpstr>PowerPoint Presentation</vt:lpstr>
      <vt:lpstr>PowerPoint Presentation</vt:lpstr>
      <vt:lpstr> Streamlit Deployment:</vt:lpstr>
      <vt:lpstr>PowerPoint Presentation</vt:lpstr>
      <vt:lpstr>Future Scope:</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PPT.pptx</dc:title>
  <cp:lastModifiedBy>Munzir Hassan</cp:lastModifiedBy>
  <cp:revision>28</cp:revision>
  <dcterms:created xsi:type="dcterms:W3CDTF">2025-07-01T05:15:11Z</dcterms:created>
  <dcterms:modified xsi:type="dcterms:W3CDTF">2025-10-31T06:52:53Z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2025-07-01T00:00:00Z</vt:filetime>
  </property>
  <property fmtid="{D5CDD505-2E9C-101B-9397-08002B2CF9AE}" pid="3" name="Creator">
    <vt:lpwstr>Google</vt:lpwstr>
  </property>
  <property fmtid="{D5CDD505-2E9C-101B-9397-08002B2CF9AE}" pid="4" name="LastSaved">
    <vt:filetime>2025-07-01T00:00:00Z</vt:filetime>
  </property>
</Properties>
</file>